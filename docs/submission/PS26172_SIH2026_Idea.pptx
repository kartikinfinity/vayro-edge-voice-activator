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Problem Statement ID – </a:t>
            </a:r>
            <a:r>
              <a:rPr lang="en-US" sz="1800" b="0" i="0" dirty="0">
                <a:solidFill>
                  <a:srgbClr val="1F497D"/>
                </a:solidFill>
                <a:latin typeface="Arial"/>
                <a:cs typeface="Arial"/>
              </a:rPr>
              <a:t>26172</a:t>
            </a:r>
          </a:p>
          <a:p>
            <a:pPr marL="285750" indent="-285750">
              <a:lnSpc>
                <a:spcPct val="100000"/>
              </a:lnSpc>
              <a:spcBef>
                <a:spcPts val="15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Problem Statement Title – </a:t>
            </a:r>
            <a:r>
              <a:rPr lang="en-US" sz="1800" b="0" i="0" dirty="0">
                <a:solidFill>
                  <a:srgbClr val="1F497D"/>
                </a:solidFill>
                <a:latin typeface="Arial"/>
                <a:cs typeface="Arial"/>
              </a:rPr>
              <a:t>Low Latency and Efficient Voice Activator for Edge Devices</a:t>
            </a:r>
          </a:p>
          <a:p>
            <a:pPr marL="285750" indent="-285750">
              <a:lnSpc>
                <a:spcPct val="100000"/>
              </a:lnSpc>
              <a:spcBef>
                <a:spcPts val="15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Theme – </a:t>
            </a:r>
            <a:r>
              <a:rPr lang="en-US" sz="1800" b="0" i="0" dirty="0">
                <a:solidFill>
                  <a:srgbClr val="1F497D"/>
                </a:solidFill>
                <a:latin typeface="Arial"/>
                <a:cs typeface="Arial"/>
              </a:rPr>
              <a:t>Smart Automation</a:t>
            </a:r>
          </a:p>
          <a:p>
            <a:pPr marL="285750" indent="-285750">
              <a:lnSpc>
                <a:spcPct val="100000"/>
              </a:lnSpc>
              <a:spcBef>
                <a:spcPts val="15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PS Category – </a:t>
            </a:r>
            <a:r>
              <a:rPr lang="en-US" sz="1800" b="0" i="0" dirty="0">
                <a:solidFill>
                  <a:srgbClr val="1F497D"/>
                </a:solidFill>
                <a:latin typeface="Arial"/>
                <a:cs typeface="Arial"/>
              </a:rPr>
              <a:t>Hardware</a:t>
            </a:r>
          </a:p>
          <a:p>
            <a:pPr marL="285750" indent="-285750">
              <a:lnSpc>
                <a:spcPct val="100000"/>
              </a:lnSpc>
              <a:spcBef>
                <a:spcPts val="15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Team ID – </a:t>
            </a:r>
            <a:r>
              <a:rPr lang="en-US" sz="1800" b="0" i="0" dirty="0">
                <a:solidFill>
                  <a:srgbClr val="1F497D"/>
                </a:solidFill>
                <a:latin typeface="Arial"/>
                <a:cs typeface="Arial"/>
              </a:rPr>
              <a:t>AUC-SIH26-172041</a:t>
            </a:r>
          </a:p>
          <a:p>
            <a:pPr marL="285750" indent="-285750">
              <a:lnSpc>
                <a:spcPct val="100000"/>
              </a:lnSpc>
              <a:spcBef>
                <a:spcPts val="15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Team Name – </a:t>
            </a:r>
            <a:r>
              <a:rPr lang="en-US" sz="1800" b="0" i="0" dirty="0">
                <a:solidFill>
                  <a:srgbClr val="1F497D"/>
                </a:solidFill>
                <a:latin typeface="Arial"/>
                <a:cs typeface="Arial"/>
              </a:rPr>
              <a:t>DATA_Edgepulse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Hey Vayro: Edge Wake Word, Cloud ASR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tIns="0" rIns="0" bIns="0"/>
          <a:lstStyle/>
          <a:p>
            <a:pPr algn="ctr"/>
            <a:r>
              <a:rPr lang="en-US" sz="1600" dirty="0"/>
              <a:t>DATA_</a:t>
            </a:r>
            <a:br>
              <a:rPr lang="en-US" sz="1600" dirty="0"/>
            </a:br>
            <a:r>
              <a:rPr lang="en-US" sz="1600" dirty="0"/>
              <a:t>Edgepulse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01" name="PS26172 201"/>
          <p:cNvSpPr txBox="1"/>
          <p:nvPr/>
        </p:nvSpPr>
        <p:spPr>
          <a:xfrm>
            <a:off x="457200" y="1170432"/>
            <a:ext cx="11247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329184" indent="-329184">
              <a:buFont typeface="Wingdings" pitchFamily="2" charset="2"/>
              <a:buChar char="v"/>
            </a:pPr>
            <a:r>
              <a:rPr lang="en-US" sz="2000" b="1" i="0" dirty="0">
                <a:solidFill>
                  <a:srgbClr val="1F497D"/>
                </a:solidFill>
                <a:latin typeface="Arial"/>
                <a:cs typeface="Arial"/>
              </a:rPr>
              <a:t>Proposed Solution (Describe your Idea/Solution/Prototype)</a:t>
            </a:r>
          </a:p>
        </p:txBody>
      </p:sp>
      <p:sp>
        <p:nvSpPr>
          <p:cNvPr id="202" name="PS26172 202"/>
          <p:cNvSpPr/>
          <p:nvPr/>
        </p:nvSpPr>
        <p:spPr>
          <a:xfrm>
            <a:off x="457200" y="1691640"/>
            <a:ext cx="3639312" cy="3401568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350" b="1" i="0" dirty="0">
                <a:solidFill>
                  <a:srgbClr val="1F497D"/>
                </a:solidFill>
                <a:latin typeface="Arial"/>
                <a:cs typeface="Arial"/>
              </a:rPr>
              <a:t>Detailed explanation of the proposed solution</a:t>
            </a:r>
          </a:p>
          <a:p>
            <a:pPr algn="l" marL="146304" indent="-146304"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ESP32-S3 + INMP441 microphone listen continuously; every 10 ms the chip computes a 40-band log-mel frame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A 10.7 k-parameter DS-CNN (28 KB int8, TensorFlow Lite Micro + ESP-NN) scores the last 1 s every 60 ms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“Hey Vayro” detected (mean of 3 scores ≥ 0.80) → 571 ms pre-roll + live audio stream over one warm TCP link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Server: VAD ends the utterance, Vosk (Kaldi) ASR returns the command text</a:t>
            </a:r>
          </a:p>
        </p:txBody>
      </p:sp>
      <p:sp>
        <p:nvSpPr>
          <p:cNvPr id="203" name="PS26172 203"/>
          <p:cNvSpPr/>
          <p:nvPr/>
        </p:nvSpPr>
        <p:spPr>
          <a:xfrm>
            <a:off x="4261104" y="1691640"/>
            <a:ext cx="3639312" cy="3401568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350" b="1" i="0" dirty="0">
                <a:solidFill>
                  <a:srgbClr val="1F497D"/>
                </a:solidFill>
                <a:latin typeface="Arial"/>
                <a:cs typeface="Arial"/>
              </a:rPr>
              <a:t>How it addresses the problem</a:t>
            </a:r>
          </a:p>
          <a:p>
            <a:pPr algn="l" marL="146304" indent="-146304"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Audio leaves the device only after a detection (true or false) → privacy; nothing is sent or processed while idle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Inside the PS budget on real hardware: 245.0 KiB peak RAM, 5.5 % idle CPU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Low latency: keyword end → audio at the ASR server 138 ms median (196 ms p95), first audio 18 ms after detection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No proprietary voice SDK: keyword pipeline fully open source (only the Wi-Fi radio driver is closed, disclosed); keyword trained from scratch</a:t>
            </a:r>
          </a:p>
        </p:txBody>
      </p:sp>
      <p:sp>
        <p:nvSpPr>
          <p:cNvPr id="204" name="PS26172 204"/>
          <p:cNvSpPr/>
          <p:nvPr/>
        </p:nvSpPr>
        <p:spPr>
          <a:xfrm>
            <a:off x="8065008" y="1691640"/>
            <a:ext cx="3639312" cy="3401568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350" b="1" i="0" dirty="0">
                <a:solidFill>
                  <a:srgbClr val="1F497D"/>
                </a:solidFill>
                <a:latin typeface="Arial"/>
                <a:cs typeface="Arial"/>
              </a:rPr>
              <a:t>Innovation and uniqueness of the solution</a:t>
            </a:r>
          </a:p>
          <a:p>
            <a:pPr algn="l" marL="146304" indent="-146304"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Training and device share one bit-exact feature pipeline (12 000 / 12 000 frames identical)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Pre-roll: the stream starts 571 ms before the detection, so a command spoken right after the keyword is not cut off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The device logs every trigger with its score, so real-home false triggers can be mined for retraining</a:t>
            </a:r>
          </a:p>
          <a:p>
            <a:pPr algn="l" marL="146304" indent="-146304">
              <a:spcBef>
                <a:spcPts val="4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A1A1A"/>
                </a:solidFill>
                <a:latin typeface="Arial"/>
                <a:cs typeface="Arial"/>
              </a:rPr>
              <a:t>Selection rules written before each held-out test (one documented override); 63 evidence entries</a:t>
            </a:r>
          </a:p>
        </p:txBody>
      </p:sp>
      <p:sp>
        <p:nvSpPr>
          <p:cNvPr id="205" name="PS26172 205"/>
          <p:cNvSpPr/>
          <p:nvPr/>
        </p:nvSpPr>
        <p:spPr>
          <a:xfrm>
            <a:off x="457200" y="5230368"/>
            <a:ext cx="267919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1F497D"/>
                </a:solidFill>
                <a:latin typeface="Arial"/>
                <a:cs typeface="Arial"/>
              </a:rPr>
              <a:t>28 KB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050" b="0" i="0" dirty="0">
                <a:solidFill>
                  <a:srgbClr val="595959"/>
                </a:solidFill>
                <a:latin typeface="Arial"/>
                <a:cs typeface="Arial"/>
              </a:rPr>
              <a:t>int8 model · 13.4 KB tensor arena</a:t>
            </a:r>
          </a:p>
        </p:txBody>
      </p:sp>
      <p:sp>
        <p:nvSpPr>
          <p:cNvPr id="206" name="PS26172 206"/>
          <p:cNvSpPr/>
          <p:nvPr/>
        </p:nvSpPr>
        <p:spPr>
          <a:xfrm>
            <a:off x="3310128" y="5230368"/>
            <a:ext cx="267919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E46C0A"/>
                </a:solidFill>
                <a:latin typeface="Arial"/>
                <a:cs typeface="Arial"/>
              </a:rPr>
              <a:t>245.0 KiB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050" b="0" i="0" dirty="0">
                <a:solidFill>
                  <a:srgbClr val="595959"/>
                </a:solidFill>
                <a:latin typeface="Arial"/>
                <a:cs typeface="Arial"/>
              </a:rPr>
              <a:t>peak RAM while streaming (&lt; 256 KB)</a:t>
            </a:r>
          </a:p>
        </p:txBody>
      </p:sp>
      <p:sp>
        <p:nvSpPr>
          <p:cNvPr id="207" name="PS26172 207"/>
          <p:cNvSpPr/>
          <p:nvPr/>
        </p:nvSpPr>
        <p:spPr>
          <a:xfrm>
            <a:off x="6163056" y="5230368"/>
            <a:ext cx="267919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E46C0A"/>
                </a:solidFill>
                <a:latin typeface="Arial"/>
                <a:cs typeface="Arial"/>
              </a:rPr>
              <a:t>5.5 %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050" b="0" i="0" dirty="0">
                <a:solidFill>
                  <a:srgbClr val="595959"/>
                </a:solidFill>
                <a:latin typeface="Arial"/>
                <a:cs typeface="Arial"/>
              </a:rPr>
              <a:t>idle CPU, both cores (busiest core 9.5 %)</a:t>
            </a:r>
          </a:p>
        </p:txBody>
      </p:sp>
      <p:sp>
        <p:nvSpPr>
          <p:cNvPr id="208" name="PS26172 208"/>
          <p:cNvSpPr/>
          <p:nvPr/>
        </p:nvSpPr>
        <p:spPr>
          <a:xfrm>
            <a:off x="9015984" y="5230368"/>
            <a:ext cx="267919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1F497D"/>
                </a:solidFill>
                <a:latin typeface="Arial"/>
                <a:cs typeface="Arial"/>
              </a:rPr>
              <a:t>138 ms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050" b="0" i="0" dirty="0">
                <a:solidFill>
                  <a:srgbClr val="595959"/>
                </a:solidFill>
                <a:latin typeface="Arial"/>
                <a:cs typeface="Arial"/>
              </a:rPr>
              <a:t>keyword end → ASR server (median)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tIns="0" rIns="0" bIns="0"/>
          <a:lstStyle/>
          <a:p>
            <a:pPr algn="ctr"/>
            <a:r>
              <a:rPr lang="en-US" sz="1600" dirty="0"/>
              <a:t>DATA_</a:t>
            </a:r>
            <a:br>
              <a:rPr lang="en-US" sz="1600" dirty="0"/>
            </a:br>
            <a:r>
              <a:rPr lang="en-US" sz="1600" dirty="0"/>
              <a:t>Edgepulse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01" name="PS26172 201"/>
          <p:cNvSpPr/>
          <p:nvPr/>
        </p:nvSpPr>
        <p:spPr>
          <a:xfrm>
            <a:off x="457200" y="1188720"/>
            <a:ext cx="3246120" cy="50292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algn="l" marL="329184" indent="-329184">
              <a:buFont typeface="Wingdings" pitchFamily="2" charset="2"/>
              <a:buChar char="v"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>Technologies to be used (e.g. programming languages, frameworks, hardware)</a:t>
            </a:r>
          </a:p>
          <a:p>
            <a:pPr algn="l" marL="146304" indent="-146304">
              <a:buFont typeface="Arial"/>
              <a:buChar char="•"/>
            </a:pPr>
            <a:r>
              <a:rPr lang="en-US" sz="11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Hardware: </a:t>
            </a:r>
            <a:r>
              <a:rPr lang="en-US" sz="1100" b="0" i="0" dirty="0">
                <a:solidFill>
                  <a:srgbClr val="1A1A1A"/>
                </a:solidFill>
                <a:latin typeface="Arial"/>
                <a:cs typeface="Arial"/>
              </a:rPr>
              <a:t>ESP32-S3 N16R8 — 240 MHz dual core, SIMD used by ESP-NN, on-chip Wi-Fi (PSRAM off); INMP441 — digital I2S mic, no analog stage</a:t>
            </a:r>
          </a:p>
          <a:p>
            <a:pPr algn="l" marL="146304" indent="-146304">
              <a:spcBef>
                <a:spcPts val="600"/>
              </a:spcBef>
              <a:buFont typeface="Arial"/>
              <a:buChar char="•"/>
            </a:pPr>
            <a:r>
              <a:rPr lang="en-US" sz="11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Firmware: </a:t>
            </a:r>
            <a:r>
              <a:rPr lang="en-US" sz="1100" b="0" i="0" dirty="0">
                <a:solidFill>
                  <a:srgbClr val="1A1A1A"/>
                </a:solidFill>
                <a:latin typeface="Arial"/>
                <a:cs typeface="Arial"/>
              </a:rPr>
              <a:t>C / C++ on ESP-IDF 5.5.5 (FreeRTOS) — open source, vendor-supported</a:t>
            </a:r>
          </a:p>
          <a:p>
            <a:pPr algn="l" marL="146304" indent="-146304">
              <a:spcBef>
                <a:spcPts val="600"/>
              </a:spcBef>
              <a:buFont typeface="Arial"/>
              <a:buChar char="•"/>
            </a:pPr>
            <a:r>
              <a:rPr lang="en-US" sz="11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TinyML: </a:t>
            </a:r>
            <a:r>
              <a:rPr lang="en-US" sz="1100" b="0" i="0" dirty="0">
                <a:solidFill>
                  <a:srgbClr val="1A1A1A"/>
                </a:solidFill>
                <a:latin typeface="Arial"/>
                <a:cs typeface="Arial"/>
              </a:rPr>
              <a:t>TensorFlow Lite Micro + ESP-NN, TFLM microfrontend — integer inference, no OS needed</a:t>
            </a:r>
          </a:p>
          <a:p>
            <a:pPr algn="l" marL="146304" indent="-146304">
              <a:spcBef>
                <a:spcPts val="600"/>
              </a:spcBef>
              <a:buFont typeface="Arial"/>
              <a:buChar char="•"/>
            </a:pPr>
            <a:r>
              <a:rPr lang="en-US" sz="11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Model: </a:t>
            </a:r>
            <a:r>
              <a:rPr lang="en-US" sz="1100" b="0" i="0" dirty="0">
                <a:solidFill>
                  <a:srgbClr val="1A1A1A"/>
                </a:solidFill>
                <a:latin typeface="Arial"/>
                <a:cs typeface="Arial"/>
              </a:rPr>
              <a:t>DS-CNN — small and accurate for keyword spotting on MCUs [1]</a:t>
            </a:r>
          </a:p>
          <a:p>
            <a:pPr algn="l" marL="146304" indent="-146304">
              <a:spcBef>
                <a:spcPts val="600"/>
              </a:spcBef>
              <a:buFont typeface="Arial"/>
              <a:buChar char="•"/>
            </a:pPr>
            <a:r>
              <a:rPr lang="en-US" sz="11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Training: </a:t>
            </a:r>
            <a:r>
              <a:rPr lang="en-US" sz="1100" b="0" i="0" dirty="0">
                <a:solidFill>
                  <a:srgbClr val="1A1A1A"/>
                </a:solidFill>
                <a:latin typeface="Arial"/>
                <a:cs typeface="Arial"/>
              </a:rPr>
              <a:t>Python, TensorFlow / Keras, Piper TTS (4 voices), LibriSpeech, our own recordings</a:t>
            </a:r>
          </a:p>
          <a:p>
            <a:pPr algn="l" marL="146304" indent="-146304">
              <a:spcBef>
                <a:spcPts val="600"/>
              </a:spcBef>
              <a:buFont typeface="Arial"/>
              <a:buChar char="•"/>
            </a:pPr>
            <a:r>
              <a:rPr lang="en-US" sz="11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Server: </a:t>
            </a:r>
            <a:r>
              <a:rPr lang="en-US" sz="1100" b="0" i="0" dirty="0">
                <a:solidFill>
                  <a:srgbClr val="1A1A1A"/>
                </a:solidFill>
                <a:latin typeface="Arial"/>
                <a:cs typeface="Arial"/>
              </a:rPr>
              <a:t>Python ingest, energy VAD, Vosk / Kaldi — open, offline, not a transformer</a:t>
            </a:r>
          </a:p>
          <a:p>
            <a:pPr algn="l" marL="146304" indent="-146304">
              <a:spcBef>
                <a:spcPts val="600"/>
              </a:spcBef>
              <a:buFont typeface="Arial"/>
              <a:buChar char="•"/>
            </a:pPr>
            <a:r>
              <a:rPr lang="en-US" sz="1100" b="1" i="0" dirty="0">
                <a:solidFill>
                  <a:srgbClr val="1A1A1A"/>
                </a:solidFill>
                <a:latin typeface="Arial"/>
                <a:cs typeface="Arial"/>
              </a:rPr>
              <a:t xml:space="preserve">Verification: </a:t>
            </a:r>
            <a:r>
              <a:rPr lang="en-US" sz="1100" b="0" i="0" dirty="0">
                <a:solidFill>
                  <a:srgbClr val="1A1A1A"/>
                </a:solidFill>
                <a:latin typeface="Arial"/>
                <a:cs typeface="Arial"/>
              </a:rPr>
              <a:t>bit-exact host twin of the front end, scripted capture and replay</a:t>
            </a:r>
          </a:p>
        </p:txBody>
      </p:sp>
      <p:sp>
        <p:nvSpPr>
          <p:cNvPr id="202" name="PS26172 202"/>
          <p:cNvSpPr txBox="1"/>
          <p:nvPr/>
        </p:nvSpPr>
        <p:spPr>
          <a:xfrm>
            <a:off x="3886200" y="1188720"/>
            <a:ext cx="7863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329184" indent="-329184">
              <a:buFont typeface="Wingdings" pitchFamily="2" charset="2"/>
              <a:buChar char="v"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>Methodology and process for implementation (Flow Charts/Images/ working prototype)</a:t>
            </a:r>
          </a:p>
        </p:txBody>
      </p:sp>
      <p:sp>
        <p:nvSpPr>
          <p:cNvPr id="203" name="PS26172 203"/>
          <p:cNvSpPr txBox="1"/>
          <p:nvPr/>
        </p:nvSpPr>
        <p:spPr>
          <a:xfrm>
            <a:off x="3886200" y="1664208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595959"/>
                </a:solidFill>
                <a:latin typeface="Arial"/>
                <a:cs typeface="Arial"/>
              </a:rPr>
              <a:t>Runtime — on the ESP32-S3 until the keyword, then the server</a:t>
            </a:r>
          </a:p>
        </p:txBody>
      </p:sp>
      <p:sp>
        <p:nvSpPr>
          <p:cNvPr id="204" name="PS26172 204"/>
          <p:cNvSpPr/>
          <p:nvPr/>
        </p:nvSpPr>
        <p:spPr>
          <a:xfrm>
            <a:off x="3886200" y="1965960"/>
            <a:ext cx="932688" cy="1115568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1F497D"/>
                </a:solidFill>
                <a:latin typeface="Arial"/>
                <a:cs typeface="Arial"/>
              </a:rPr>
              <a:t>Mic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I2S, 16 kHz, 24-bit</a:t>
            </a:r>
          </a:p>
        </p:txBody>
      </p:sp>
      <p:sp>
        <p:nvSpPr>
          <p:cNvPr id="205" name="PS26172 205"/>
          <p:cNvSpPr/>
          <p:nvPr/>
        </p:nvSpPr>
        <p:spPr>
          <a:xfrm>
            <a:off x="4850892" y="2432304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06" name="PS26172 206"/>
          <p:cNvSpPr/>
          <p:nvPr/>
        </p:nvSpPr>
        <p:spPr>
          <a:xfrm>
            <a:off x="5033772" y="1965960"/>
            <a:ext cx="932688" cy="1115568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1F497D"/>
                </a:solidFill>
                <a:latin typeface="Arial"/>
                <a:cs typeface="Arial"/>
              </a:rPr>
              <a:t>Front end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30/10 ms, 40 log-mel</a:t>
            </a:r>
          </a:p>
        </p:txBody>
      </p:sp>
      <p:sp>
        <p:nvSpPr>
          <p:cNvPr id="207" name="PS26172 207"/>
          <p:cNvSpPr/>
          <p:nvPr/>
        </p:nvSpPr>
        <p:spPr>
          <a:xfrm>
            <a:off x="5998464" y="2432304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08" name="PS26172 208"/>
          <p:cNvSpPr/>
          <p:nvPr/>
        </p:nvSpPr>
        <p:spPr>
          <a:xfrm>
            <a:off x="6181344" y="1965960"/>
            <a:ext cx="932688" cy="1115568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1F497D"/>
                </a:solidFill>
                <a:latin typeface="Arial"/>
                <a:cs typeface="Arial"/>
              </a:rPr>
              <a:t>DS-CNN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int8, 1 s window, every 60 ms</a:t>
            </a:r>
          </a:p>
        </p:txBody>
      </p:sp>
      <p:sp>
        <p:nvSpPr>
          <p:cNvPr id="209" name="PS26172 209"/>
          <p:cNvSpPr/>
          <p:nvPr/>
        </p:nvSpPr>
        <p:spPr>
          <a:xfrm>
            <a:off x="7146036" y="2432304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10" name="PS26172 210"/>
          <p:cNvSpPr/>
          <p:nvPr/>
        </p:nvSpPr>
        <p:spPr>
          <a:xfrm>
            <a:off x="7328916" y="1965960"/>
            <a:ext cx="932688" cy="1115568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1F497D"/>
                </a:solidFill>
                <a:latin typeface="Arial"/>
                <a:cs typeface="Arial"/>
              </a:rPr>
              <a:t>Decide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mean of 3 ≥ 0.80, 2 s refractory</a:t>
            </a:r>
          </a:p>
        </p:txBody>
      </p:sp>
      <p:sp>
        <p:nvSpPr>
          <p:cNvPr id="211" name="PS26172 211"/>
          <p:cNvSpPr/>
          <p:nvPr/>
        </p:nvSpPr>
        <p:spPr>
          <a:xfrm>
            <a:off x="8293608" y="2432304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12" name="PS26172 212"/>
          <p:cNvSpPr/>
          <p:nvPr/>
        </p:nvSpPr>
        <p:spPr>
          <a:xfrm>
            <a:off x="8476488" y="1965960"/>
            <a:ext cx="932688" cy="1115568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1F497D"/>
                </a:solidFill>
                <a:latin typeface="Arial"/>
                <a:cs typeface="Arial"/>
              </a:rPr>
              <a:t>Ring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0.75 s, 571 ms pre-roll</a:t>
            </a:r>
          </a:p>
        </p:txBody>
      </p:sp>
      <p:sp>
        <p:nvSpPr>
          <p:cNvPr id="213" name="PS26172 213"/>
          <p:cNvSpPr/>
          <p:nvPr/>
        </p:nvSpPr>
        <p:spPr>
          <a:xfrm>
            <a:off x="9441180" y="2432304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14" name="PS26172 214"/>
          <p:cNvSpPr/>
          <p:nvPr/>
        </p:nvSpPr>
        <p:spPr>
          <a:xfrm>
            <a:off x="9624060" y="1965960"/>
            <a:ext cx="932688" cy="11155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95959"/>
                </a:solidFill>
                <a:latin typeface="Arial"/>
                <a:cs typeface="Arial"/>
              </a:rPr>
              <a:t>Wi-Fi TCP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40 ms packets, warm link</a:t>
            </a:r>
          </a:p>
        </p:txBody>
      </p:sp>
      <p:sp>
        <p:nvSpPr>
          <p:cNvPr id="215" name="PS26172 215"/>
          <p:cNvSpPr/>
          <p:nvPr/>
        </p:nvSpPr>
        <p:spPr>
          <a:xfrm>
            <a:off x="10588752" y="2432304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16" name="PS26172 216"/>
          <p:cNvSpPr/>
          <p:nvPr/>
        </p:nvSpPr>
        <p:spPr>
          <a:xfrm>
            <a:off x="10771632" y="1965960"/>
            <a:ext cx="932688" cy="111556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2E7D32"/>
                </a:solidFill>
                <a:latin typeface="Arial"/>
                <a:cs typeface="Arial"/>
              </a:rPr>
              <a:t>Server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VAD end-point → Vosk ASR</a:t>
            </a:r>
          </a:p>
        </p:txBody>
      </p:sp>
      <p:sp>
        <p:nvSpPr>
          <p:cNvPr id="217" name="PS26172 217"/>
          <p:cNvSpPr txBox="1"/>
          <p:nvPr/>
        </p:nvSpPr>
        <p:spPr>
          <a:xfrm>
            <a:off x="3886200" y="3127248"/>
            <a:ext cx="55229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1F497D"/>
                </a:solidFill>
                <a:latin typeface="Arial"/>
                <a:cs typeface="Arial"/>
              </a:rPr>
              <a:t>ESP32-S3 (edge)</a:t>
            </a:r>
          </a:p>
        </p:txBody>
      </p:sp>
      <p:sp>
        <p:nvSpPr>
          <p:cNvPr id="218" name="PS26172 218"/>
          <p:cNvSpPr txBox="1"/>
          <p:nvPr/>
        </p:nvSpPr>
        <p:spPr>
          <a:xfrm>
            <a:off x="9624060" y="3127248"/>
            <a:ext cx="20802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2E7D32"/>
                </a:solidFill>
                <a:latin typeface="Arial"/>
                <a:cs typeface="Arial"/>
              </a:rPr>
              <a:t>network · server</a:t>
            </a:r>
          </a:p>
        </p:txBody>
      </p:sp>
      <p:sp>
        <p:nvSpPr>
          <p:cNvPr id="219" name="PS26172 219"/>
          <p:cNvSpPr txBox="1"/>
          <p:nvPr/>
        </p:nvSpPr>
        <p:spPr>
          <a:xfrm>
            <a:off x="3886200" y="352044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595959"/>
                </a:solidFill>
                <a:latin typeface="Arial"/>
                <a:cs typeface="Arial"/>
              </a:rPr>
              <a:t>How the keyword model is made (all scripted, reproducible)</a:t>
            </a:r>
          </a:p>
        </p:txBody>
      </p:sp>
      <p:sp>
        <p:nvSpPr>
          <p:cNvPr id="220" name="PS26172 220"/>
          <p:cNvSpPr/>
          <p:nvPr/>
        </p:nvSpPr>
        <p:spPr>
          <a:xfrm>
            <a:off x="3886200" y="3822192"/>
            <a:ext cx="1129284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1F497D"/>
                </a:solidFill>
                <a:latin typeface="Arial"/>
                <a:cs typeface="Arial"/>
              </a:rPr>
              <a:t>Data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TTS “Hey Vayro”, speech, room &amp; household audio</a:t>
            </a:r>
          </a:p>
        </p:txBody>
      </p:sp>
      <p:sp>
        <p:nvSpPr>
          <p:cNvPr id="221" name="PS26172 221"/>
          <p:cNvSpPr/>
          <p:nvPr/>
        </p:nvSpPr>
        <p:spPr>
          <a:xfrm>
            <a:off x="5047488" y="4242816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22" name="PS26172 222"/>
          <p:cNvSpPr/>
          <p:nvPr/>
        </p:nvSpPr>
        <p:spPr>
          <a:xfrm>
            <a:off x="5230368" y="3822192"/>
            <a:ext cx="1129284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1F497D"/>
                </a:solidFill>
                <a:latin typeface="Arial"/>
                <a:cs typeface="Arial"/>
              </a:rPr>
              <a:t>Device-identical streams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same front end, bit-exact twin</a:t>
            </a:r>
          </a:p>
        </p:txBody>
      </p:sp>
      <p:sp>
        <p:nvSpPr>
          <p:cNvPr id="223" name="PS26172 223"/>
          <p:cNvSpPr/>
          <p:nvPr/>
        </p:nvSpPr>
        <p:spPr>
          <a:xfrm>
            <a:off x="6391656" y="4242816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24" name="PS26172 224"/>
          <p:cNvSpPr/>
          <p:nvPr/>
        </p:nvSpPr>
        <p:spPr>
          <a:xfrm>
            <a:off x="6574536" y="3822192"/>
            <a:ext cx="1129284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1F497D"/>
                </a:solidFill>
                <a:latin typeface="Arial"/>
                <a:cs typeface="Arial"/>
              </a:rPr>
              <a:t>Train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DS-CNN from random init</a:t>
            </a:r>
          </a:p>
        </p:txBody>
      </p:sp>
      <p:sp>
        <p:nvSpPr>
          <p:cNvPr id="225" name="PS26172 225"/>
          <p:cNvSpPr/>
          <p:nvPr/>
        </p:nvSpPr>
        <p:spPr>
          <a:xfrm>
            <a:off x="7735824" y="4242816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26" name="PS26172 226"/>
          <p:cNvSpPr/>
          <p:nvPr/>
        </p:nvSpPr>
        <p:spPr>
          <a:xfrm>
            <a:off x="7918704" y="3822192"/>
            <a:ext cx="1129284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1F497D"/>
                </a:solidFill>
                <a:latin typeface="Arial"/>
                <a:cs typeface="Arial"/>
              </a:rPr>
              <a:t>int8 export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28 KB, 5 ops</a:t>
            </a:r>
          </a:p>
        </p:txBody>
      </p:sp>
      <p:sp>
        <p:nvSpPr>
          <p:cNvPr id="227" name="PS26172 227"/>
          <p:cNvSpPr/>
          <p:nvPr/>
        </p:nvSpPr>
        <p:spPr>
          <a:xfrm>
            <a:off x="9079992" y="4242816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28" name="PS26172 228"/>
          <p:cNvSpPr/>
          <p:nvPr/>
        </p:nvSpPr>
        <p:spPr>
          <a:xfrm>
            <a:off x="9262872" y="3822192"/>
            <a:ext cx="1129284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1F497D"/>
                </a:solidFill>
                <a:latin typeface="Arial"/>
                <a:cs typeface="Arial"/>
              </a:rPr>
              <a:t>Select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rule declared before the test</a:t>
            </a:r>
          </a:p>
        </p:txBody>
      </p:sp>
      <p:sp>
        <p:nvSpPr>
          <p:cNvPr id="229" name="PS26172 229"/>
          <p:cNvSpPr/>
          <p:nvPr/>
        </p:nvSpPr>
        <p:spPr>
          <a:xfrm>
            <a:off x="10424160" y="4242816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endParaRPr lang="en-US" sz="1000"/>
          </a:p>
        </p:txBody>
      </p:sp>
      <p:sp>
        <p:nvSpPr>
          <p:cNvPr id="230" name="PS26172 230"/>
          <p:cNvSpPr/>
          <p:nvPr/>
        </p:nvSpPr>
        <p:spPr>
          <a:xfrm>
            <a:off x="10607040" y="3822192"/>
            <a:ext cx="1129284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1F497D"/>
                </a:solidFill>
                <a:latin typeface="Arial"/>
                <a:cs typeface="Arial"/>
              </a:rPr>
              <a:t>Flash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950" b="0" i="0" dirty="0">
                <a:solidFill>
                  <a:srgbClr val="1A1A1A"/>
                </a:solidFill>
                <a:latin typeface="Arial"/>
                <a:cs typeface="Arial"/>
              </a:rPr>
              <a:t>operating point ships with the model</a:t>
            </a:r>
          </a:p>
        </p:txBody>
      </p:sp>
      <p:sp>
        <p:nvSpPr>
          <p:cNvPr id="231" name="PS26172 231"/>
          <p:cNvSpPr/>
          <p:nvPr/>
        </p:nvSpPr>
        <p:spPr>
          <a:xfrm>
            <a:off x="3886200" y="5029200"/>
            <a:ext cx="7863840" cy="118872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28016" tIns="128016" rIns="128016" bIns="128016" anchor="t">
            <a:noAutofit/>
          </a:bodyPr>
          <a:lstStyle/>
          <a:p>
            <a:pPr algn="l">
              <a:buNone/>
            </a:pPr>
            <a:r>
              <a:rPr lang="en-US" sz="11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Working prototype: </a:t>
            </a:r>
            <a:r>
              <a:rPr lang="en-US" sz="1150" b="0" i="0" dirty="0">
                <a:solidFill>
                  <a:srgbClr val="1A1A1A"/>
                </a:solidFill>
                <a:latin typeface="Arial"/>
                <a:cs typeface="Arial"/>
              </a:rPr>
              <a:t>ESP32-S3-N16R8 + INMP441 (SCK→GPIO6, WS→GPIO5, SD→GPIO4). The demo video shows keyword → stream → transcript live on this board.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1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Model: </a:t>
            </a:r>
            <a:r>
              <a:rPr lang="en-US" sz="1150" b="0" i="0" dirty="0">
                <a:solidFill>
                  <a:srgbClr val="1A1A1A"/>
                </a:solidFill>
                <a:latin typeface="Arial"/>
                <a:cs typeface="Arial"/>
              </a:rPr>
              <a:t>10 665 parameters · 212 584 MACs per inference · 28 024 B int8 · tensor arena 13 404 B · ops: Conv2D, DepthwiseConv2D, FullyConnected, Reshape, Logistic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tIns="0" rIns="0" bIns="0"/>
          <a:lstStyle/>
          <a:p>
            <a:pPr algn="ctr"/>
            <a:r>
              <a:rPr lang="en-US" sz="1600" dirty="0"/>
              <a:t>DATA_</a:t>
            </a:r>
            <a:br>
              <a:rPr lang="en-US" sz="1600" dirty="0"/>
            </a:br>
            <a:r>
              <a:rPr lang="en-US" sz="1600" dirty="0"/>
              <a:t>Edgepulse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01" name="PS26172 201"/>
          <p:cNvSpPr txBox="1"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329184" indent="-329184">
              <a:buFont typeface="Wingdings" pitchFamily="2" charset="2"/>
              <a:buChar char="v"/>
            </a:pPr>
            <a:r>
              <a:rPr lang="en-US" sz="1600" b="1" i="0" dirty="0">
                <a:solidFill>
                  <a:srgbClr val="1F497D"/>
                </a:solidFill>
                <a:latin typeface="Arial"/>
                <a:cs typeface="Arial"/>
              </a:rPr>
              <a:t>Analysis of the feasibility of the idea — measured on the physical prototype, final firmware</a:t>
            </a:r>
          </a:p>
        </p:txBody>
      </p:sp>
      <p:sp>
        <p:nvSpPr>
          <p:cNvPr id="202" name="PS26172 202"/>
          <p:cNvSpPr txBox="1"/>
          <p:nvPr/>
        </p:nvSpPr>
        <p:spPr>
          <a:xfrm>
            <a:off x="457200" y="1572768"/>
            <a:ext cx="36393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>Efficiency</a:t>
            </a:r>
          </a:p>
        </p:txBody>
      </p:sp>
      <p:sp>
        <p:nvSpPr>
          <p:cNvPr id="203" name="PS26172 203"/>
          <p:cNvSpPr/>
          <p:nvPr/>
        </p:nvSpPr>
        <p:spPr>
          <a:xfrm>
            <a:off x="457200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245.0 KiB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peak RAM, streaming (&lt; 256 KB)</a:t>
            </a:r>
          </a:p>
        </p:txBody>
      </p:sp>
      <p:sp>
        <p:nvSpPr>
          <p:cNvPr id="204" name="PS26172 204"/>
          <p:cNvSpPr/>
          <p:nvPr/>
        </p:nvSpPr>
        <p:spPr>
          <a:xfrm>
            <a:off x="1700784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5.5 %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idle CPU, 2 cores (max core 9.5 %)</a:t>
            </a:r>
          </a:p>
        </p:txBody>
      </p:sp>
      <p:sp>
        <p:nvSpPr>
          <p:cNvPr id="205" name="PS26172 205"/>
          <p:cNvSpPr/>
          <p:nvPr/>
        </p:nvSpPr>
        <p:spPr>
          <a:xfrm>
            <a:off x="2944368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28 KB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model flash · 13.4 KB arena</a:t>
            </a:r>
          </a:p>
        </p:txBody>
      </p:sp>
      <p:sp>
        <p:nvSpPr>
          <p:cNvPr id="206" name="PS26172 206"/>
          <p:cNvSpPr txBox="1"/>
          <p:nvPr/>
        </p:nvSpPr>
        <p:spPr>
          <a:xfrm>
            <a:off x="4261104" y="1572768"/>
            <a:ext cx="36393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>Accuracy (shipped model v2b)</a:t>
            </a:r>
          </a:p>
        </p:txBody>
      </p:sp>
      <p:sp>
        <p:nvSpPr>
          <p:cNvPr id="207" name="PS26172 207"/>
          <p:cNvSpPr/>
          <p:nvPr/>
        </p:nvSpPr>
        <p:spPr>
          <a:xfrm>
            <a:off x="4261104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22 / 25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speaker 1, held-out session, 0.5–2 m</a:t>
            </a:r>
          </a:p>
        </p:txBody>
      </p:sp>
      <p:sp>
        <p:nvSpPr>
          <p:cNvPr id="208" name="PS26172 208"/>
          <p:cNvSpPr/>
          <p:nvPr/>
        </p:nvSpPr>
        <p:spPr>
          <a:xfrm>
            <a:off x="5504688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20 / 25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new speaker, never trained on</a:t>
            </a:r>
          </a:p>
        </p:txBody>
      </p:sp>
      <p:sp>
        <p:nvSpPr>
          <p:cNvPr id="209" name="PS26172 209"/>
          <p:cNvSpPr/>
          <p:nvPr/>
        </p:nvSpPr>
        <p:spPr>
          <a:xfrm>
            <a:off x="6748272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0.2 · 15.8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false triggers per hour: quiet · TV/talk</a:t>
            </a:r>
          </a:p>
        </p:txBody>
      </p:sp>
      <p:sp>
        <p:nvSpPr>
          <p:cNvPr id="210" name="PS26172 210"/>
          <p:cNvSpPr txBox="1"/>
          <p:nvPr/>
        </p:nvSpPr>
        <p:spPr>
          <a:xfrm>
            <a:off x="8065008" y="1572768"/>
            <a:ext cx="36393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>Latency (final firmware, ASR on)</a:t>
            </a:r>
          </a:p>
        </p:txBody>
      </p:sp>
      <p:sp>
        <p:nvSpPr>
          <p:cNvPr id="211" name="PS26172 211"/>
          <p:cNvSpPr/>
          <p:nvPr/>
        </p:nvSpPr>
        <p:spPr>
          <a:xfrm>
            <a:off x="8065008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138 ms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keyword end → ASR server (median)</a:t>
            </a:r>
          </a:p>
        </p:txBody>
      </p:sp>
      <p:sp>
        <p:nvSpPr>
          <p:cNvPr id="212" name="PS26172 212"/>
          <p:cNvSpPr/>
          <p:nvPr/>
        </p:nvSpPr>
        <p:spPr>
          <a:xfrm>
            <a:off x="9308592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196 ms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keyword end → ASR server (p95)</a:t>
            </a:r>
          </a:p>
        </p:txBody>
      </p:sp>
      <p:sp>
        <p:nvSpPr>
          <p:cNvPr id="213" name="PS26172 213"/>
          <p:cNvSpPr/>
          <p:nvPr/>
        </p:nvSpPr>
        <p:spPr>
          <a:xfrm>
            <a:off x="10552176" y="1874520"/>
            <a:ext cx="1152144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1F497D"/>
                </a:solidFill>
                <a:latin typeface="Arial"/>
                <a:cs typeface="Arial"/>
              </a:rPr>
              <a:t>18 ms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595959"/>
                </a:solidFill>
                <a:latin typeface="Arial"/>
                <a:cs typeface="Arial"/>
              </a:rPr>
              <a:t>detection → first audio (median)</a:t>
            </a:r>
          </a:p>
        </p:txBody>
      </p:sp>
      <p:sp>
        <p:nvSpPr>
          <p:cNvPr id="214" name="PS26172 214"/>
          <p:cNvSpPr/>
          <p:nvPr/>
        </p:nvSpPr>
        <p:spPr>
          <a:xfrm>
            <a:off x="457200" y="3218688"/>
            <a:ext cx="4206240" cy="36576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329184" indent="-329184">
              <a:buFont typeface="Wingdings" pitchFamily="2" charset="2"/>
              <a:buChar char="v"/>
            </a:pPr>
            <a:r>
              <a:rPr lang="en-US" sz="1300" b="1" i="0" dirty="0">
                <a:solidFill>
                  <a:srgbClr val="1F497D"/>
                </a:solidFill>
                <a:latin typeface="Arial"/>
                <a:cs typeface="Arial"/>
              </a:rPr>
              <a:t>Potential challenges and risks</a:t>
            </a:r>
          </a:p>
        </p:txBody>
      </p:sp>
      <p:sp>
        <p:nvSpPr>
          <p:cNvPr id="215" name="PS26172 215"/>
          <p:cNvSpPr/>
          <p:nvPr/>
        </p:nvSpPr>
        <p:spPr>
          <a:xfrm>
            <a:off x="4736592" y="3218688"/>
            <a:ext cx="6995160" cy="365760"/>
          </a:xfrm>
          <a:prstGeom prst="rect">
            <a:avLst/>
          </a:prstGeom>
          <a:solidFill>
            <a:srgbClr val="EAF5EA"/>
          </a:solidFill>
          <a:ln>
            <a:noFill/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329184" indent="-329184">
              <a:buFont typeface="Wingdings" pitchFamily="2" charset="2"/>
              <a:buChar char="v"/>
            </a:pPr>
            <a:r>
              <a:rPr lang="en-US" sz="1300" b="1" i="0" dirty="0">
                <a:solidFill>
                  <a:srgbClr val="1F497D"/>
                </a:solidFill>
                <a:latin typeface="Arial"/>
                <a:cs typeface="Arial"/>
              </a:rPr>
              <a:t>Strategies for overcoming these challenges</a:t>
            </a:r>
          </a:p>
        </p:txBody>
      </p:sp>
      <p:sp>
        <p:nvSpPr>
          <p:cNvPr id="216" name="PS26172 216"/>
          <p:cNvSpPr/>
          <p:nvPr/>
        </p:nvSpPr>
        <p:spPr>
          <a:xfrm>
            <a:off x="457200" y="3639312"/>
            <a:ext cx="4206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1050" b="0" i="0" dirty="0">
                <a:solidFill>
                  <a:srgbClr val="1A1A1A"/>
                </a:solidFill>
                <a:latin typeface="Arial"/>
                <a:cs typeface="Arial"/>
              </a:rPr>
              <a:t>TV / family speech still triggers: 15.8 per hour (2.5 h of held-out household audio)</a:t>
            </a:r>
          </a:p>
        </p:txBody>
      </p:sp>
      <p:sp>
        <p:nvSpPr>
          <p:cNvPr id="217" name="PS26172 217"/>
          <p:cNvSpPr/>
          <p:nvPr/>
        </p:nvSpPr>
        <p:spPr>
          <a:xfrm>
            <a:off x="4736592" y="3639312"/>
            <a:ext cx="6995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1050" b="0" i="0" dirty="0">
                <a:solidFill>
                  <a:srgbClr val="1A1A1A"/>
                </a:solidFill>
                <a:latin typeface="Arial"/>
                <a:cs typeface="Arial"/>
              </a:rPr>
              <a:t>On the same 52 min, retraining with the device’s own false triggers cut 15.1 → 10.4 /h (v4), but v4 lost new-speaker recall (14/25), so v2b ships; next: more speakers + household audio together</a:t>
            </a:r>
          </a:p>
        </p:txBody>
      </p:sp>
      <p:sp>
        <p:nvSpPr>
          <p:cNvPr id="218" name="PS26172 218"/>
          <p:cNvSpPr/>
          <p:nvPr/>
        </p:nvSpPr>
        <p:spPr>
          <a:xfrm>
            <a:off x="457200" y="4242816"/>
            <a:ext cx="4206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1050" b="0" i="0" dirty="0">
                <a:solidFill>
                  <a:srgbClr val="1A1A1A"/>
                </a:solidFill>
                <a:latin typeface="Arial"/>
                <a:cs typeface="Arial"/>
              </a:rPr>
              <a:t>Real voices tested so far: two speakers (plus 4 TTS voices: US, UK, non-native, Hindi)</a:t>
            </a:r>
          </a:p>
        </p:txBody>
      </p:sp>
      <p:sp>
        <p:nvSpPr>
          <p:cNvPr id="219" name="PS26172 219"/>
          <p:cNvSpPr/>
          <p:nvPr/>
        </p:nvSpPr>
        <p:spPr>
          <a:xfrm>
            <a:off x="4736592" y="4242816"/>
            <a:ext cx="6995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1050" b="0" i="0" dirty="0">
                <a:solidFill>
                  <a:srgbClr val="1A1A1A"/>
                </a:solidFill>
                <a:latin typeface="Arial"/>
                <a:cs typeface="Arial"/>
              </a:rPr>
              <a:t>Scripted 3-minute sessions for new speakers; per-speaker results reported separately</a:t>
            </a:r>
          </a:p>
        </p:txBody>
      </p:sp>
      <p:sp>
        <p:nvSpPr>
          <p:cNvPr id="220" name="PS26172 220"/>
          <p:cNvSpPr/>
          <p:nvPr/>
        </p:nvSpPr>
        <p:spPr>
          <a:xfrm>
            <a:off x="457200" y="4846320"/>
            <a:ext cx="4206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1050" b="0" i="0" dirty="0">
                <a:solidFill>
                  <a:srgbClr val="1A1A1A"/>
                </a:solidFill>
                <a:latin typeface="Arial"/>
                <a:cs typeface="Arial"/>
              </a:rPr>
              <a:t>Server ASR word accuracy is set by the ASR model (Vosk en-in: 36 % WER published)</a:t>
            </a:r>
          </a:p>
        </p:txBody>
      </p:sp>
      <p:sp>
        <p:nvSpPr>
          <p:cNvPr id="221" name="PS26172 221"/>
          <p:cNvSpPr/>
          <p:nvPr/>
        </p:nvSpPr>
        <p:spPr>
          <a:xfrm>
            <a:off x="4736592" y="4846320"/>
            <a:ext cx="6995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1050" b="0" i="0" dirty="0">
                <a:solidFill>
                  <a:srgbClr val="1A1A1A"/>
                </a:solidFill>
                <a:latin typeface="Arial"/>
                <a:cs typeface="Arial"/>
              </a:rPr>
              <a:t>Edge is ASR-agnostic: swap in a larger model or a command grammar on the server only</a:t>
            </a:r>
          </a:p>
        </p:txBody>
      </p:sp>
      <p:sp>
        <p:nvSpPr>
          <p:cNvPr id="222" name="PS26172 222"/>
          <p:cNvSpPr/>
          <p:nvPr/>
        </p:nvSpPr>
        <p:spPr>
          <a:xfrm>
            <a:off x="457200" y="5449824"/>
            <a:ext cx="4206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1050" b="0" i="0" dirty="0">
                <a:solidFill>
                  <a:srgbClr val="1A1A1A"/>
                </a:solidFill>
                <a:latin typeface="Arial"/>
                <a:cs typeface="Arial"/>
              </a:rPr>
              <a:t>Thin RAM margin; Wi-Fi or server outages</a:t>
            </a:r>
          </a:p>
        </p:txBody>
      </p:sp>
      <p:sp>
        <p:nvSpPr>
          <p:cNvPr id="223" name="PS26172 223"/>
          <p:cNvSpPr/>
          <p:nvPr/>
        </p:nvSpPr>
        <p:spPr>
          <a:xfrm>
            <a:off x="4736592" y="5449824"/>
            <a:ext cx="6995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1050" b="0" i="0" dirty="0">
                <a:solidFill>
                  <a:srgbClr val="1A1A1A"/>
                </a:solidFill>
                <a:latin typeface="Arial"/>
                <a:cs typeface="Arial"/>
              </a:rPr>
              <a:t>Memory trims saved 9.6 KB; detection keeps running offline; auto-reconnect; ASR off the server’s receive path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tIns="0" rIns="0" bIns="0"/>
          <a:lstStyle/>
          <a:p>
            <a:pPr algn="ctr"/>
            <a:r>
              <a:rPr lang="en-US" sz="1600" dirty="0"/>
              <a:t>DATA_</a:t>
            </a:r>
            <a:br>
              <a:rPr lang="en-US" sz="1600" dirty="0"/>
            </a:br>
            <a:r>
              <a:rPr lang="en-US" sz="1600" dirty="0"/>
              <a:t>Edgepulse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01" name="PS26172 201"/>
          <p:cNvSpPr/>
          <p:nvPr/>
        </p:nvSpPr>
        <p:spPr>
          <a:xfrm>
            <a:off x="457200" y="1188720"/>
            <a:ext cx="4754880" cy="50292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algn="l" marL="329184" indent="-329184">
              <a:spcAft>
                <a:spcPts val="600"/>
              </a:spcAft>
              <a:buFont typeface="Wingdings" pitchFamily="2" charset="2"/>
              <a:buChar char="v"/>
            </a:pPr>
            <a:r>
              <a:rPr lang="en-US" sz="1600" b="1" i="0" dirty="0">
                <a:solidFill>
                  <a:srgbClr val="1F497D"/>
                </a:solidFill>
                <a:latin typeface="Arial"/>
                <a:cs typeface="Arial"/>
              </a:rPr>
              <a:t>Potential impact on the target audience</a:t>
            </a:r>
          </a:p>
          <a:p>
            <a:pPr algn="l" marL="146304" indent="-146304">
              <a:buFont typeface="Arial"/>
              <a:buChar char="•"/>
            </a:pPr>
            <a:r>
              <a:rPr lang="en-US" sz="13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ISRO labs &amp; control rooms: </a:t>
            </a:r>
            <a:r>
              <a:rPr lang="en-US" sz="1350" b="0" i="0" dirty="0">
                <a:solidFill>
                  <a:srgbClr val="1A1A1A"/>
                </a:solidFill>
                <a:latin typeface="Arial"/>
                <a:cs typeface="Arial"/>
              </a:rPr>
              <a:t>hands-free voice commands where hands and eyes are busy — without streaming room audio all day</a:t>
            </a:r>
          </a:p>
          <a:p>
            <a:pPr algn="l" marL="146304" indent="-146304">
              <a:spcBef>
                <a:spcPts val="900"/>
              </a:spcBef>
              <a:buFont typeface="Arial"/>
              <a:buChar char="•"/>
            </a:pPr>
            <a:r>
              <a:rPr lang="en-US" sz="13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Smart automation: </a:t>
            </a:r>
            <a:r>
              <a:rPr lang="en-US" sz="1350" b="0" i="0" dirty="0">
                <a:solidFill>
                  <a:srgbClr val="1A1A1A"/>
                </a:solidFill>
                <a:latin typeface="Arial"/>
                <a:cs typeface="Arial"/>
              </a:rPr>
              <a:t>a ready wake-word front end for ESP32-S3 home, office or factory devices</a:t>
            </a:r>
          </a:p>
          <a:p>
            <a:pPr algn="l" marL="146304" indent="-146304">
              <a:spcBef>
                <a:spcPts val="900"/>
              </a:spcBef>
              <a:buFont typeface="Arial"/>
              <a:buChar char="•"/>
            </a:pPr>
            <a:r>
              <a:rPr lang="en-US" sz="13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Assistive use: </a:t>
            </a:r>
            <a:r>
              <a:rPr lang="en-US" sz="1350" b="0" i="0" dirty="0">
                <a:solidFill>
                  <a:srgbClr val="1A1A1A"/>
                </a:solidFill>
                <a:latin typeface="Arial"/>
                <a:cs typeface="Arial"/>
              </a:rPr>
              <a:t>voice control for elderly or motor-impaired users on low-cost hardware</a:t>
            </a:r>
          </a:p>
          <a:p>
            <a:pPr algn="l" marL="146304" indent="-146304">
              <a:spcBef>
                <a:spcPts val="900"/>
              </a:spcBef>
              <a:buFont typeface="Arial"/>
              <a:buChar char="•"/>
            </a:pPr>
            <a:r>
              <a:rPr lang="en-US" sz="13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Indian developers &amp; start-ups: </a:t>
            </a:r>
            <a:r>
              <a:rPr lang="en-US" sz="1350" b="0" i="0" dirty="0">
                <a:solidFill>
                  <a:srgbClr val="1A1A1A"/>
                </a:solidFill>
                <a:latin typeface="Arial"/>
                <a:cs typeface="Arial"/>
              </a:rPr>
              <a:t>custom keyword with Indian-accent training data and no vendor voice SDK</a:t>
            </a:r>
          </a:p>
        </p:txBody>
      </p:sp>
      <p:sp>
        <p:nvSpPr>
          <p:cNvPr id="202" name="PS26172 202"/>
          <p:cNvSpPr/>
          <p:nvPr/>
        </p:nvSpPr>
        <p:spPr>
          <a:xfrm>
            <a:off x="640080" y="4892040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1F497D"/>
                </a:solidFill>
                <a:latin typeface="Arial"/>
                <a:cs typeface="Arial"/>
              </a:rPr>
              <a:t>0 bytes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50" b="0" i="0" dirty="0">
                <a:solidFill>
                  <a:srgbClr val="595959"/>
                </a:solidFill>
                <a:latin typeface="Arial"/>
                <a:cs typeface="Arial"/>
              </a:rPr>
              <a:t>of audio sent before a detection</a:t>
            </a:r>
          </a:p>
        </p:txBody>
      </p:sp>
      <p:sp>
        <p:nvSpPr>
          <p:cNvPr id="203" name="PS26172 203"/>
          <p:cNvSpPr/>
          <p:nvPr/>
        </p:nvSpPr>
        <p:spPr>
          <a:xfrm>
            <a:off x="2880360" y="4892040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0E6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E46C0A"/>
                </a:solidFill>
                <a:latin typeface="Arial"/>
                <a:cs typeface="Arial"/>
              </a:rPr>
              <a:t>32 kB/s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950" b="0" i="0" dirty="0">
                <a:solidFill>
                  <a:srgbClr val="595959"/>
                </a:solidFill>
                <a:latin typeface="Arial"/>
                <a:cs typeface="Arial"/>
              </a:rPr>
              <a:t>16 kHz audio, only from keyword to end of command</a:t>
            </a:r>
          </a:p>
        </p:txBody>
      </p:sp>
      <p:sp>
        <p:nvSpPr>
          <p:cNvPr id="204" name="PS26172 204"/>
          <p:cNvSpPr txBox="1"/>
          <p:nvPr/>
        </p:nvSpPr>
        <p:spPr>
          <a:xfrm>
            <a:off x="5440680" y="1188720"/>
            <a:ext cx="6309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329184" indent="-329184">
              <a:buFont typeface="Wingdings" pitchFamily="2" charset="2"/>
              <a:buChar char="v"/>
            </a:pPr>
            <a:r>
              <a:rPr lang="en-US" sz="1400" b="1" i="0" dirty="0">
                <a:solidFill>
                  <a:srgbClr val="1F497D"/>
                </a:solidFill>
                <a:latin typeface="Arial"/>
                <a:cs typeface="Arial"/>
              </a:rPr>
              <a:t>Benefits of the solution (social, economic, environmental, etc.)</a:t>
            </a:r>
          </a:p>
        </p:txBody>
      </p:sp>
      <p:sp>
        <p:nvSpPr>
          <p:cNvPr id="205" name="PS26172 205"/>
          <p:cNvSpPr/>
          <p:nvPr/>
        </p:nvSpPr>
        <p:spPr>
          <a:xfrm>
            <a:off x="5440680" y="1664208"/>
            <a:ext cx="3081528" cy="214884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600" b="1" i="0" dirty="0">
                <a:solidFill>
                  <a:srgbClr val="1F497D"/>
                </a:solidFill>
                <a:latin typeface="Arial"/>
                <a:cs typeface="Arial"/>
              </a:rPr>
              <a:t>Social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350" b="0" i="0" dirty="0">
                <a:solidFill>
                  <a:srgbClr val="1A1A1A"/>
                </a:solidFill>
                <a:latin typeface="Arial"/>
                <a:cs typeface="Arial"/>
              </a:rPr>
              <a:t>Privacy by design: audio leaves the chip only after a detection (true or false); nothing is sent while idle</a:t>
            </a:r>
          </a:p>
        </p:txBody>
      </p:sp>
      <p:sp>
        <p:nvSpPr>
          <p:cNvPr id="206" name="PS26172 206"/>
          <p:cNvSpPr/>
          <p:nvPr/>
        </p:nvSpPr>
        <p:spPr>
          <a:xfrm>
            <a:off x="8668512" y="1664208"/>
            <a:ext cx="3081528" cy="2148840"/>
          </a:xfrm>
          <a:prstGeom prst="roundRect">
            <a:avLst>
              <a:gd name="adj" fmla="val 6000"/>
            </a:avLst>
          </a:prstGeom>
          <a:solidFill>
            <a:srgbClr val="FDF0E6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600" b="1" i="0" dirty="0">
                <a:solidFill>
                  <a:srgbClr val="E46C0A"/>
                </a:solidFill>
                <a:latin typeface="Arial"/>
                <a:cs typeface="Arial"/>
              </a:rPr>
              <a:t>Economic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350" b="0" i="0" dirty="0">
                <a:solidFill>
                  <a:srgbClr val="1A1A1A"/>
                </a:solidFill>
                <a:latin typeface="Arial"/>
                <a:cs typeface="Arial"/>
              </a:rPr>
              <a:t>Hardware ≤ ₹2,000 (team estimate); open-source stack; no audio processed in the cloud while idle</a:t>
            </a:r>
          </a:p>
        </p:txBody>
      </p:sp>
      <p:sp>
        <p:nvSpPr>
          <p:cNvPr id="207" name="PS26172 207"/>
          <p:cNvSpPr/>
          <p:nvPr/>
        </p:nvSpPr>
        <p:spPr>
          <a:xfrm>
            <a:off x="5440680" y="3959352"/>
            <a:ext cx="3081528" cy="21488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600" b="1" i="0" dirty="0">
                <a:solidFill>
                  <a:srgbClr val="2E7D32"/>
                </a:solidFill>
                <a:latin typeface="Arial"/>
                <a:cs typeface="Arial"/>
              </a:rPr>
              <a:t>Environmental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350" b="0" i="0" dirty="0">
                <a:solidFill>
                  <a:srgbClr val="1A1A1A"/>
                </a:solidFill>
                <a:latin typeface="Arial"/>
                <a:cs typeface="Arial"/>
              </a:rPr>
              <a:t>Low compute (5.5 % CPU idle); audio is sent only after a detection, so traffic stays tiny. Wi-Fi is kept awake for latency; power not yet measured</a:t>
            </a:r>
          </a:p>
        </p:txBody>
      </p:sp>
      <p:sp>
        <p:nvSpPr>
          <p:cNvPr id="208" name="PS26172 208"/>
          <p:cNvSpPr/>
          <p:nvPr/>
        </p:nvSpPr>
        <p:spPr>
          <a:xfrm>
            <a:off x="8668512" y="3959352"/>
            <a:ext cx="3081528" cy="214884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600" b="1" i="0" dirty="0">
                <a:solidFill>
                  <a:srgbClr val="1F497D"/>
                </a:solidFill>
                <a:latin typeface="Arial"/>
                <a:cs typeface="Arial"/>
              </a:rPr>
              <a:t>Technical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350" b="0" i="0" dirty="0">
                <a:solidFill>
                  <a:srgbClr val="1A1A1A"/>
                </a:solidFill>
                <a:latin typeface="Arial"/>
                <a:cs typeface="Arial"/>
              </a:rPr>
              <a:t>Reproducible: data, training, selection and tests are scripts; every number is traceable to an evidence log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tIns="0" rIns="0" bIns="0"/>
          <a:lstStyle/>
          <a:p>
            <a:pPr algn="ctr"/>
            <a:r>
              <a:rPr lang="en-US" sz="1600" dirty="0"/>
              <a:t>DATA_</a:t>
            </a:r>
            <a:br>
              <a:rPr lang="en-US" sz="1600" dirty="0"/>
            </a:br>
            <a:r>
              <a:rPr lang="en-US" sz="1600" dirty="0"/>
              <a:t>Edgepulse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01" name="PS26172 201"/>
          <p:cNvSpPr txBox="1"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329184" indent="-329184">
              <a:buFont typeface="Wingdings" pitchFamily="2" charset="2"/>
              <a:buChar char="v"/>
            </a:pPr>
            <a:r>
              <a:rPr lang="en-US" sz="1600" b="1" i="0" dirty="0">
                <a:solidFill>
                  <a:srgbClr val="1F497D"/>
                </a:solidFill>
                <a:latin typeface="Arial"/>
                <a:cs typeface="Arial"/>
              </a:rPr>
              <a:t>Details / Links of the reference and research work</a:t>
            </a:r>
          </a:p>
        </p:txBody>
      </p:sp>
      <p:sp>
        <p:nvSpPr>
          <p:cNvPr id="202" name="PS26172 202"/>
          <p:cNvSpPr/>
          <p:nvPr/>
        </p:nvSpPr>
        <p:spPr>
          <a:xfrm>
            <a:off x="457200" y="1645920"/>
            <a:ext cx="7269480" cy="45720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algn="l"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[1]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Y. Zhang, N. Suda, L. Lai, V. Chandra,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“Hello Edge: Keyword Spotting on Microcontrollers”, arXiv:1711.07128, 2017 — DS-CNN architecture</a:t>
            </a:r>
          </a:p>
          <a:p>
            <a:pPr algn="l">
              <a:spcBef>
                <a:spcPts val="800"/>
              </a:spcBef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[2]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P. Warden,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“Speech Commands: A Dataset for Limited-Vocabulary Speech Recognition”, arXiv:1804.03209, 2018 — KWS background (not used for training)</a:t>
            </a:r>
          </a:p>
          <a:p>
            <a:pPr algn="l">
              <a:spcBef>
                <a:spcPts val="800"/>
              </a:spcBef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[3]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TensorFlow Lite Micro + microfrontend: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github.com/tensorflow/tflite-micro</a:t>
            </a:r>
          </a:p>
          <a:p>
            <a:pPr algn="l">
              <a:spcBef>
                <a:spcPts val="800"/>
              </a:spcBef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[4]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Espressif esp-tflite-micro and ESP-NN: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github.com/espressif/esp-tflite-micro · github.com/espressif/esp-nn</a:t>
            </a:r>
          </a:p>
          <a:p>
            <a:pPr algn="l">
              <a:spcBef>
                <a:spcPts val="800"/>
              </a:spcBef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[5]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ESP-IDF v5.5 (FreeRTOS, drivers, lwIP):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github.com/espressif/esp-idf</a:t>
            </a:r>
          </a:p>
          <a:p>
            <a:pPr algn="l">
              <a:spcBef>
                <a:spcPts val="800"/>
              </a:spcBef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[6]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V. Panayotov et al.,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“LibriSpeech: an ASR corpus based on public domain audio books”, ICASSP 2015 — openslr.org/12</a:t>
            </a:r>
          </a:p>
          <a:p>
            <a:pPr algn="l">
              <a:spcBef>
                <a:spcPts val="800"/>
              </a:spcBef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[7]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Piper TTS and voices: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github.com/OHF-Voice/piper1-gpl · huggingface.co/rhasspy/piper-voices</a:t>
            </a:r>
          </a:p>
          <a:p>
            <a:pPr algn="l">
              <a:spcBef>
                <a:spcPts val="800"/>
              </a:spcBef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[8]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D. Povey et al.,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“The Kaldi Speech Recognition Toolkit”, ASRU 2011 · Vosk: alphacephei.com/vosk</a:t>
            </a:r>
          </a:p>
          <a:p>
            <a:pPr algn="l">
              <a:spcBef>
                <a:spcPts val="800"/>
              </a:spcBef>
              <a:buNone/>
            </a:pPr>
            <a:r>
              <a:rPr lang="en-US" sz="1250" b="1" i="0" dirty="0">
                <a:solidFill>
                  <a:srgbClr val="1F497D"/>
                </a:solidFill>
                <a:latin typeface="Arial"/>
                <a:cs typeface="Arial"/>
              </a:rPr>
              <a:t xml:space="preserve">[9]  </a:t>
            </a: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Datasheets: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ESP32-S3 Technical Reference Manual (Espressif); INMP441 (TDK InvenSense)</a:t>
            </a:r>
          </a:p>
        </p:txBody>
      </p:sp>
      <p:sp>
        <p:nvSpPr>
          <p:cNvPr id="203" name="PS26172 203"/>
          <p:cNvSpPr/>
          <p:nvPr/>
        </p:nvSpPr>
        <p:spPr>
          <a:xfrm>
            <a:off x="7882128" y="1645920"/>
            <a:ext cx="3849624" cy="457200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</p:spPr>
        <p:txBody>
          <a:bodyPr wrap="square" lIns="146304" tIns="146304" rIns="146304" bIns="146304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400" b="1" i="0" dirty="0">
                <a:solidFill>
                  <a:srgbClr val="1F497D"/>
                </a:solidFill>
                <a:latin typeface="Arial"/>
                <a:cs typeface="Arial"/>
              </a:rPr>
              <a:t>Our own research record</a:t>
            </a:r>
          </a:p>
          <a:p>
            <a:pPr algn="l" marL="146304" indent="-146304">
              <a:buFont typeface="Arial"/>
              <a:buChar char="•"/>
            </a:pP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Evidence ledger: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63 entries, each tagged measured / estimated / proposed and pointing to its raw data</a:t>
            </a:r>
          </a:p>
          <a:p>
            <a:pPr algn="l" marL="146304" indent="-146304">
              <a:spcBef>
                <a:spcPts val="900"/>
              </a:spcBef>
              <a:buFont typeface="Arial"/>
              <a:buChar char="•"/>
            </a:pP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Selection rules: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written and committed before each held-out test; one documented override (new-speaker evidence)</a:t>
            </a:r>
          </a:p>
          <a:p>
            <a:pPr algn="l" marL="146304" indent="-146304">
              <a:spcBef>
                <a:spcPts val="900"/>
              </a:spcBef>
              <a:buFont typeface="Arial"/>
              <a:buChar char="•"/>
            </a:pP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SBOM: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every component and licence listed; the closed Wi-Fi/PHY radio driver and two non-commercial TTS voices are disclosed</a:t>
            </a:r>
          </a:p>
          <a:p>
            <a:pPr algn="l" marL="146304" indent="-146304">
              <a:spcBef>
                <a:spcPts val="900"/>
              </a:spcBef>
              <a:buFont typeface="Arial"/>
              <a:buChar char="•"/>
            </a:pP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Licence: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our code Apache-2.0; every component’s licence listed in the SBOM</a:t>
            </a:r>
          </a:p>
          <a:p>
            <a:pPr algn="l" marL="146304" indent="-146304">
              <a:spcBef>
                <a:spcPts val="900"/>
              </a:spcBef>
              <a:buFont typeface="Arial"/>
              <a:buChar char="•"/>
            </a:pPr>
            <a:r>
              <a:rPr lang="en-US" sz="1250" b="1" i="0" dirty="0">
                <a:solidFill>
                  <a:srgbClr val="1A1A1A"/>
                </a:solidFill>
                <a:latin typeface="Arial"/>
                <a:cs typeface="Arial"/>
              </a:rPr>
              <a:t xml:space="preserve">Demo video: </a:t>
            </a:r>
            <a:r>
              <a:rPr lang="en-US" sz="1250" b="0" i="0" dirty="0">
                <a:solidFill>
                  <a:srgbClr val="1A1A1A"/>
                </a:solidFill>
                <a:latin typeface="Arial"/>
                <a:cs typeface="Arial"/>
              </a:rPr>
              <a:t>link to be added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