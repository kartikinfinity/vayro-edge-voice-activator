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US" sz="18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Problem Statement ID – </a:t>
            </a:r>
            <a:r>
              <a:rPr lang="en-US" sz="1800" b="0" i="0" dirty="0">
                <a:solidFill>
                  <a:srgbClr val="1F497D"/>
                </a:solidFill>
                <a:latin typeface="Arial"/>
                <a:cs typeface="Arial"/>
              </a:rPr>
              <a:t>26172</a:t>
            </a:r>
          </a:p>
          <a:p>
            <a:pPr marL="285750" indent="-285750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US" sz="18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Problem Statement Title – </a:t>
            </a:r>
            <a:r>
              <a:rPr lang="en-US" sz="1800" b="0" i="0" dirty="0">
                <a:solidFill>
                  <a:srgbClr val="1F497D"/>
                </a:solidFill>
                <a:latin typeface="Arial"/>
                <a:cs typeface="Arial"/>
              </a:rPr>
              <a:t>Low Latency and Efficient Voice Activator for Edge Devices</a:t>
            </a:r>
          </a:p>
          <a:p>
            <a:pPr marL="285750" indent="-285750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US" sz="18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Theme – </a:t>
            </a:r>
            <a:r>
              <a:rPr lang="en-US" sz="1800" b="0" i="0" dirty="0">
                <a:solidFill>
                  <a:srgbClr val="1F497D"/>
                </a:solidFill>
                <a:latin typeface="Arial"/>
                <a:cs typeface="Arial"/>
              </a:rPr>
              <a:t>Smart Automation</a:t>
            </a:r>
          </a:p>
          <a:p>
            <a:pPr marL="285750" indent="-285750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US" sz="18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PS Category – </a:t>
            </a:r>
            <a:r>
              <a:rPr lang="en-US" sz="1800" b="0" i="0" dirty="0">
                <a:solidFill>
                  <a:srgbClr val="1F497D"/>
                </a:solidFill>
                <a:latin typeface="Arial"/>
                <a:cs typeface="Arial"/>
              </a:rPr>
              <a:t>Hardware</a:t>
            </a:r>
          </a:p>
          <a:p>
            <a:pPr marL="285750" indent="-285750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US" sz="18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Team ID – </a:t>
            </a:r>
            <a:r>
              <a:rPr lang="en-US" sz="1800" b="0" i="0" dirty="0">
                <a:solidFill>
                  <a:srgbClr val="1F497D"/>
                </a:solidFill>
                <a:latin typeface="Arial"/>
                <a:cs typeface="Arial"/>
              </a:rPr>
              <a:t>[Team ID]</a:t>
            </a:r>
          </a:p>
          <a:p>
            <a:pPr marL="285750" indent="-285750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US" sz="18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Team Name – </a:t>
            </a:r>
            <a:r>
              <a:rPr lang="en-US" sz="1800" b="0" i="0" dirty="0">
                <a:solidFill>
                  <a:srgbClr val="1F497D"/>
                </a:solidFill>
                <a:latin typeface="Arial"/>
                <a:cs typeface="Arial"/>
              </a:rPr>
              <a:t>[Team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Hey Vayro: Edge Wake Word, Cloud ASR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PS26172 201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2000" b="1" i="0" dirty="0">
                <a:solidFill>
                  <a:srgbClr val="1F497D"/>
                </a:solidFill>
                <a:latin typeface="Arial"/>
                <a:cs typeface="Arial"/>
              </a:rPr>
              <a:t>Proposed Solution (Describe your Idea/Solution/Prototype)</a:t>
            </a:r>
          </a:p>
        </p:txBody>
      </p:sp>
      <p:sp>
        <p:nvSpPr>
          <p:cNvPr id="202" name="PS26172 202"/>
          <p:cNvSpPr/>
          <p:nvPr/>
        </p:nvSpPr>
        <p:spPr>
          <a:xfrm>
            <a:off x="457200" y="1691640"/>
            <a:ext cx="3639312" cy="3401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50" b="1" i="0" dirty="0">
                <a:solidFill>
                  <a:srgbClr val="1F497D"/>
                </a:solidFill>
                <a:latin typeface="Arial"/>
                <a:cs typeface="Arial"/>
              </a:rPr>
              <a:t>Detailed explanation of the proposed solution</a:t>
            </a:r>
          </a:p>
          <a:p>
            <a:pPr algn="l" marL="146304" indent="-146304"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ESP32-S3 + INMP441 microphone listen continuously; every 10 ms the chip computes a 40-band log-mel frame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A 10.7 k-parameter DS-CNN (28 KB int8, TensorFlow Lite Micro + ESP-NN) scores the last 1 s every 60 ms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“Hey Vayro” detected (mean of 3 scores ≥ 0.70) → 571 ms pre-roll + live audio stream over one warm TCP link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Server: VAD ends the utterance, Vosk (Kaldi) ASR returns the command text</a:t>
            </a:r>
          </a:p>
        </p:txBody>
      </p:sp>
      <p:sp>
        <p:nvSpPr>
          <p:cNvPr id="203" name="PS26172 203"/>
          <p:cNvSpPr/>
          <p:nvPr/>
        </p:nvSpPr>
        <p:spPr>
          <a:xfrm>
            <a:off x="4261104" y="1691640"/>
            <a:ext cx="3639312" cy="3401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50" b="1" i="0" dirty="0">
                <a:solidFill>
                  <a:srgbClr val="1F497D"/>
                </a:solidFill>
                <a:latin typeface="Arial"/>
                <a:cs typeface="Arial"/>
              </a:rPr>
              <a:t>How it addresses the problem</a:t>
            </a:r>
          </a:p>
          <a:p>
            <a:pPr algn="l" marL="146304" indent="-146304"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No audio leaves the device until the keyword is detected → privacy, zero cloud cost while idle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Inside the PS budget on real hardware: 245.6 KiB peak RAM, 4.7 % idle CPU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Low latency: first audio at the server ≈ 2 ms after detection; keyword end → server ≈ 95 ms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Only open-source components; custom keyword trained from scratch (no pre-trained wake word)</a:t>
            </a:r>
          </a:p>
        </p:txBody>
      </p:sp>
      <p:sp>
        <p:nvSpPr>
          <p:cNvPr id="204" name="PS26172 204"/>
          <p:cNvSpPr/>
          <p:nvPr/>
        </p:nvSpPr>
        <p:spPr>
          <a:xfrm>
            <a:off x="8065008" y="1691640"/>
            <a:ext cx="3639312" cy="3401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50" b="1" i="0" dirty="0">
                <a:solidFill>
                  <a:srgbClr val="1F497D"/>
                </a:solidFill>
                <a:latin typeface="Arial"/>
                <a:cs typeface="Arial"/>
              </a:rPr>
              <a:t>Innovation and uniqueness of the solution</a:t>
            </a:r>
          </a:p>
          <a:p>
            <a:pPr algn="l" marL="146304" indent="-146304"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Training and device share one bit-exact feature pipeline (12 000 / 12 000 frames identical)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Pre-roll ring buffer: a command spoken with no pause after the keyword is never clipped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Learns from real homes: its own logged false triggers become hard negatives (model v4)</a:t>
            </a:r>
          </a:p>
          <a:p>
            <a:pPr algn="l" marL="146304" indent="-146304">
              <a:spcBef>
                <a:spcPts val="400"/>
              </a:spcBef>
              <a:buFont typeface="Arial"/>
              <a:buChar char="•"/>
            </a:pPr>
            <a:r>
              <a:rPr lang="en-US" sz="1300" b="0" i="0" dirty="0">
                <a:solidFill>
                  <a:srgbClr val="1A1A1A"/>
                </a:solidFill>
                <a:latin typeface="Arial"/>
                <a:cs typeface="Arial"/>
              </a:rPr>
              <a:t>Each model is chosen by a rule written before testing; 58 logged evidence entries</a:t>
            </a:r>
          </a:p>
        </p:txBody>
      </p:sp>
      <p:sp>
        <p:nvSpPr>
          <p:cNvPr id="205" name="PS26172 205"/>
          <p:cNvSpPr/>
          <p:nvPr/>
        </p:nvSpPr>
        <p:spPr>
          <a:xfrm>
            <a:off x="457200" y="5230368"/>
            <a:ext cx="267919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2400" b="1" i="0" dirty="0">
                <a:solidFill>
                  <a:srgbClr val="1F497D"/>
                </a:solidFill>
                <a:latin typeface="Arial"/>
                <a:cs typeface="Arial"/>
              </a:rPr>
              <a:t>28 KB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050" b="0" i="0" dirty="0">
                <a:solidFill>
                  <a:srgbClr val="595959"/>
                </a:solidFill>
                <a:latin typeface="Arial"/>
                <a:cs typeface="Arial"/>
              </a:rPr>
              <a:t>int8 model · 13.4 KB tensor arena</a:t>
            </a:r>
          </a:p>
        </p:txBody>
      </p:sp>
      <p:sp>
        <p:nvSpPr>
          <p:cNvPr id="206" name="PS26172 206"/>
          <p:cNvSpPr/>
          <p:nvPr/>
        </p:nvSpPr>
        <p:spPr>
          <a:xfrm>
            <a:off x="3310128" y="5230368"/>
            <a:ext cx="267919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2400" b="1" i="0" dirty="0">
                <a:solidFill>
                  <a:srgbClr val="E46C0A"/>
                </a:solidFill>
                <a:latin typeface="Arial"/>
                <a:cs typeface="Arial"/>
              </a:rPr>
              <a:t>245.6 KiB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050" b="0" i="0" dirty="0">
                <a:solidFill>
                  <a:srgbClr val="595959"/>
                </a:solidFill>
                <a:latin typeface="Arial"/>
                <a:cs typeface="Arial"/>
              </a:rPr>
              <a:t>peak RAM while streaming (&lt; 256 KB)</a:t>
            </a:r>
          </a:p>
        </p:txBody>
      </p:sp>
      <p:sp>
        <p:nvSpPr>
          <p:cNvPr id="207" name="PS26172 207"/>
          <p:cNvSpPr/>
          <p:nvPr/>
        </p:nvSpPr>
        <p:spPr>
          <a:xfrm>
            <a:off x="6163056" y="5230368"/>
            <a:ext cx="267919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2400" b="1" i="0" dirty="0">
                <a:solidFill>
                  <a:srgbClr val="E46C0A"/>
                </a:solidFill>
                <a:latin typeface="Arial"/>
                <a:cs typeface="Arial"/>
              </a:rPr>
              <a:t>4.7 %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050" b="0" i="0" dirty="0">
                <a:solidFill>
                  <a:srgbClr val="595959"/>
                </a:solidFill>
                <a:latin typeface="Arial"/>
                <a:cs typeface="Arial"/>
              </a:rPr>
              <a:t>idle CPU, both cores (busiest core 8.8 %)</a:t>
            </a:r>
          </a:p>
        </p:txBody>
      </p:sp>
      <p:sp>
        <p:nvSpPr>
          <p:cNvPr id="208" name="PS26172 208"/>
          <p:cNvSpPr/>
          <p:nvPr/>
        </p:nvSpPr>
        <p:spPr>
          <a:xfrm>
            <a:off x="9015984" y="5230368"/>
            <a:ext cx="267919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2400" b="1" i="0" dirty="0">
                <a:solidFill>
                  <a:srgbClr val="1F497D"/>
                </a:solidFill>
                <a:latin typeface="Arial"/>
                <a:cs typeface="Arial"/>
              </a:rPr>
              <a:t>≈ 95 ms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050" b="0" i="0" dirty="0">
                <a:solidFill>
                  <a:srgbClr val="595959"/>
                </a:solidFill>
                <a:latin typeface="Arial"/>
                <a:cs typeface="Arial"/>
              </a:rPr>
              <a:t>keyword end → server (median)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PS26172 201"/>
          <p:cNvSpPr/>
          <p:nvPr/>
        </p:nvSpPr>
        <p:spPr>
          <a:xfrm>
            <a:off x="457200" y="1188720"/>
            <a:ext cx="3246120" cy="50292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>Technologies to be used (e.g. programming languages, frameworks, hardware)</a:t>
            </a:r>
          </a:p>
          <a:p>
            <a:pPr algn="l" marL="146304" indent="-146304">
              <a:buFont typeface="Arial"/>
              <a:buChar char="•"/>
            </a:pPr>
            <a:r>
              <a:rPr lang="en-US" sz="12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Hardware: </a:t>
            </a:r>
            <a:r>
              <a:rPr lang="en-US" sz="1200" b="0" i="0" dirty="0">
                <a:solidFill>
                  <a:srgbClr val="1A1A1A"/>
                </a:solidFill>
                <a:latin typeface="Arial"/>
                <a:cs typeface="Arial"/>
              </a:rPr>
              <a:t>ESP32-S3 N16R8 (240 MHz, PSRAM off) + INMP441 I2S MEMS mic</a:t>
            </a:r>
          </a:p>
          <a:p>
            <a:pPr algn="l" marL="146304" indent="-146304">
              <a:spcBef>
                <a:spcPts val="700"/>
              </a:spcBef>
              <a:buFont typeface="Arial"/>
              <a:buChar char="•"/>
            </a:pPr>
            <a:r>
              <a:rPr lang="en-US" sz="12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Firmware: </a:t>
            </a:r>
            <a:r>
              <a:rPr lang="en-US" sz="1200" b="0" i="0" dirty="0">
                <a:solidFill>
                  <a:srgbClr val="1A1A1A"/>
                </a:solidFill>
                <a:latin typeface="Arial"/>
                <a:cs typeface="Arial"/>
              </a:rPr>
              <a:t>C / C++ on ESP-IDF 5.5.5 (FreeRTOS)</a:t>
            </a:r>
          </a:p>
          <a:p>
            <a:pPr algn="l" marL="146304" indent="-146304">
              <a:spcBef>
                <a:spcPts val="700"/>
              </a:spcBef>
              <a:buFont typeface="Arial"/>
              <a:buChar char="•"/>
            </a:pPr>
            <a:r>
              <a:rPr lang="en-US" sz="12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TinyML: </a:t>
            </a:r>
            <a:r>
              <a:rPr lang="en-US" sz="1200" b="0" i="0" dirty="0">
                <a:solidFill>
                  <a:srgbClr val="1A1A1A"/>
                </a:solidFill>
                <a:latin typeface="Arial"/>
                <a:cs typeface="Arial"/>
              </a:rPr>
              <a:t>TensorFlow Lite Micro + ESP-NN kernels, TFLM microfrontend</a:t>
            </a:r>
          </a:p>
          <a:p>
            <a:pPr algn="l" marL="146304" indent="-146304">
              <a:spcBef>
                <a:spcPts val="700"/>
              </a:spcBef>
              <a:buFont typeface="Arial"/>
              <a:buChar char="•"/>
            </a:pPr>
            <a:r>
              <a:rPr lang="en-US" sz="12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Training: </a:t>
            </a:r>
            <a:r>
              <a:rPr lang="en-US" sz="1200" b="0" i="0" dirty="0">
                <a:solidFill>
                  <a:srgbClr val="1A1A1A"/>
                </a:solidFill>
                <a:latin typeface="Arial"/>
                <a:cs typeface="Arial"/>
              </a:rPr>
              <a:t>Python, TensorFlow / Keras, Piper TTS (4 voices), LibriSpeech, our own recordings</a:t>
            </a:r>
          </a:p>
          <a:p>
            <a:pPr algn="l" marL="146304" indent="-146304">
              <a:spcBef>
                <a:spcPts val="700"/>
              </a:spcBef>
              <a:buFont typeface="Arial"/>
              <a:buChar char="•"/>
            </a:pPr>
            <a:r>
              <a:rPr lang="en-US" sz="12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Server: </a:t>
            </a:r>
            <a:r>
              <a:rPr lang="en-US" sz="1200" b="0" i="0" dirty="0">
                <a:solidFill>
                  <a:srgbClr val="1A1A1A"/>
                </a:solidFill>
                <a:latin typeface="Arial"/>
                <a:cs typeface="Arial"/>
              </a:rPr>
              <a:t>Python TCP ingest, energy VAD, Vosk / Kaldi ASR</a:t>
            </a:r>
          </a:p>
          <a:p>
            <a:pPr algn="l" marL="146304" indent="-146304">
              <a:spcBef>
                <a:spcPts val="700"/>
              </a:spcBef>
              <a:buFont typeface="Arial"/>
              <a:buChar char="•"/>
            </a:pPr>
            <a:r>
              <a:rPr lang="en-US" sz="12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Verification: </a:t>
            </a:r>
            <a:r>
              <a:rPr lang="en-US" sz="1200" b="0" i="0" dirty="0">
                <a:solidFill>
                  <a:srgbClr val="1A1A1A"/>
                </a:solidFill>
                <a:latin typeface="Arial"/>
                <a:cs typeface="Arial"/>
              </a:rPr>
              <a:t>bit-exact host twin of the front end, scripted capture and replay tools</a:t>
            </a:r>
          </a:p>
        </p:txBody>
      </p:sp>
      <p:sp>
        <p:nvSpPr>
          <p:cNvPr id="202" name="PS26172 202"/>
          <p:cNvSpPr txBox="1"/>
          <p:nvPr/>
        </p:nvSpPr>
        <p:spPr>
          <a:xfrm>
            <a:off x="3886200" y="118872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203" name="PS26172 203"/>
          <p:cNvSpPr txBox="1"/>
          <p:nvPr/>
        </p:nvSpPr>
        <p:spPr>
          <a:xfrm>
            <a:off x="3886200" y="16642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rgbClr val="595959"/>
                </a:solidFill>
                <a:latin typeface="Arial"/>
                <a:cs typeface="Arial"/>
              </a:rPr>
              <a:t>Runtime — on the ESP32-S3 until the keyword, then the server</a:t>
            </a:r>
          </a:p>
        </p:txBody>
      </p:sp>
      <p:sp>
        <p:nvSpPr>
          <p:cNvPr id="204" name="PS26172 204"/>
          <p:cNvSpPr/>
          <p:nvPr/>
        </p:nvSpPr>
        <p:spPr>
          <a:xfrm>
            <a:off x="3886200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>Mic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I2S, 16 kHz, 24-bit</a:t>
            </a:r>
          </a:p>
        </p:txBody>
      </p:sp>
      <p:sp>
        <p:nvSpPr>
          <p:cNvPr id="205" name="PS26172 205"/>
          <p:cNvSpPr/>
          <p:nvPr/>
        </p:nvSpPr>
        <p:spPr>
          <a:xfrm>
            <a:off x="4850892" y="2432304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06" name="PS26172 206"/>
          <p:cNvSpPr/>
          <p:nvPr/>
        </p:nvSpPr>
        <p:spPr>
          <a:xfrm>
            <a:off x="5033772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>Front end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30/10 ms, 40 log-mel</a:t>
            </a:r>
          </a:p>
        </p:txBody>
      </p:sp>
      <p:sp>
        <p:nvSpPr>
          <p:cNvPr id="207" name="PS26172 207"/>
          <p:cNvSpPr/>
          <p:nvPr/>
        </p:nvSpPr>
        <p:spPr>
          <a:xfrm>
            <a:off x="5998464" y="2432304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08" name="PS26172 208"/>
          <p:cNvSpPr/>
          <p:nvPr/>
        </p:nvSpPr>
        <p:spPr>
          <a:xfrm>
            <a:off x="6181344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>DS-CNN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int8, 1 s window, every 60 ms</a:t>
            </a:r>
          </a:p>
        </p:txBody>
      </p:sp>
      <p:sp>
        <p:nvSpPr>
          <p:cNvPr id="209" name="PS26172 209"/>
          <p:cNvSpPr/>
          <p:nvPr/>
        </p:nvSpPr>
        <p:spPr>
          <a:xfrm>
            <a:off x="7146036" y="2432304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10" name="PS26172 210"/>
          <p:cNvSpPr/>
          <p:nvPr/>
        </p:nvSpPr>
        <p:spPr>
          <a:xfrm>
            <a:off x="7328916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>Decide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mean of 3 ≥ 0.70, 2 s refractory</a:t>
            </a:r>
          </a:p>
        </p:txBody>
      </p:sp>
      <p:sp>
        <p:nvSpPr>
          <p:cNvPr id="211" name="PS26172 211"/>
          <p:cNvSpPr/>
          <p:nvPr/>
        </p:nvSpPr>
        <p:spPr>
          <a:xfrm>
            <a:off x="8293608" y="2432304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12" name="PS26172 212"/>
          <p:cNvSpPr/>
          <p:nvPr/>
        </p:nvSpPr>
        <p:spPr>
          <a:xfrm>
            <a:off x="8476488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>Ring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0.75 s, 571 ms pre-roll</a:t>
            </a:r>
          </a:p>
        </p:txBody>
      </p:sp>
      <p:sp>
        <p:nvSpPr>
          <p:cNvPr id="213" name="PS26172 213"/>
          <p:cNvSpPr/>
          <p:nvPr/>
        </p:nvSpPr>
        <p:spPr>
          <a:xfrm>
            <a:off x="9441180" y="2432304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14" name="PS26172 214"/>
          <p:cNvSpPr/>
          <p:nvPr/>
        </p:nvSpPr>
        <p:spPr>
          <a:xfrm>
            <a:off x="9624060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595959"/>
                </a:solidFill>
                <a:latin typeface="Arial"/>
                <a:cs typeface="Arial"/>
              </a:rPr>
              <a:t>Wi-Fi TCP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40 ms packets, warm link</a:t>
            </a:r>
          </a:p>
        </p:txBody>
      </p:sp>
      <p:sp>
        <p:nvSpPr>
          <p:cNvPr id="215" name="PS26172 215"/>
          <p:cNvSpPr/>
          <p:nvPr/>
        </p:nvSpPr>
        <p:spPr>
          <a:xfrm>
            <a:off x="10588752" y="2432304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16" name="PS26172 216"/>
          <p:cNvSpPr/>
          <p:nvPr/>
        </p:nvSpPr>
        <p:spPr>
          <a:xfrm>
            <a:off x="10771632" y="1965960"/>
            <a:ext cx="932688" cy="111556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2E7D32"/>
                </a:solidFill>
                <a:latin typeface="Arial"/>
                <a:cs typeface="Arial"/>
              </a:rPr>
              <a:t>Server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VAD end-point → Vosk ASR</a:t>
            </a:r>
          </a:p>
        </p:txBody>
      </p:sp>
      <p:sp>
        <p:nvSpPr>
          <p:cNvPr id="217" name="PS26172 217"/>
          <p:cNvSpPr txBox="1"/>
          <p:nvPr/>
        </p:nvSpPr>
        <p:spPr>
          <a:xfrm>
            <a:off x="3886200" y="3127248"/>
            <a:ext cx="55229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000" b="1" i="0" dirty="0">
                <a:solidFill>
                  <a:srgbClr val="1F497D"/>
                </a:solidFill>
                <a:latin typeface="Arial"/>
                <a:cs typeface="Arial"/>
              </a:rPr>
              <a:t>ESP32-S3 (edge)</a:t>
            </a:r>
          </a:p>
        </p:txBody>
      </p:sp>
      <p:sp>
        <p:nvSpPr>
          <p:cNvPr id="218" name="PS26172 218"/>
          <p:cNvSpPr txBox="1"/>
          <p:nvPr/>
        </p:nvSpPr>
        <p:spPr>
          <a:xfrm>
            <a:off x="9624060" y="3127248"/>
            <a:ext cx="20802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000" b="1" i="0" dirty="0">
                <a:solidFill>
                  <a:srgbClr val="2E7D32"/>
                </a:solidFill>
                <a:latin typeface="Arial"/>
                <a:cs typeface="Arial"/>
              </a:rPr>
              <a:t>network · server</a:t>
            </a:r>
          </a:p>
        </p:txBody>
      </p:sp>
      <p:sp>
        <p:nvSpPr>
          <p:cNvPr id="219" name="PS26172 219"/>
          <p:cNvSpPr txBox="1"/>
          <p:nvPr/>
        </p:nvSpPr>
        <p:spPr>
          <a:xfrm>
            <a:off x="3886200" y="3520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rgbClr val="595959"/>
                </a:solidFill>
                <a:latin typeface="Arial"/>
                <a:cs typeface="Arial"/>
              </a:rPr>
              <a:t>How the keyword model is made (all scripted, reproducible)</a:t>
            </a:r>
          </a:p>
        </p:txBody>
      </p:sp>
      <p:sp>
        <p:nvSpPr>
          <p:cNvPr id="220" name="PS26172 220"/>
          <p:cNvSpPr/>
          <p:nvPr/>
        </p:nvSpPr>
        <p:spPr>
          <a:xfrm>
            <a:off x="3886200" y="3822192"/>
            <a:ext cx="11292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1F497D"/>
                </a:solidFill>
                <a:latin typeface="Arial"/>
                <a:cs typeface="Arial"/>
              </a:rPr>
              <a:t>Data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TTS “Hey Vayro”, speech, room &amp; household audio</a:t>
            </a:r>
          </a:p>
        </p:txBody>
      </p:sp>
      <p:sp>
        <p:nvSpPr>
          <p:cNvPr id="221" name="PS26172 221"/>
          <p:cNvSpPr/>
          <p:nvPr/>
        </p:nvSpPr>
        <p:spPr>
          <a:xfrm>
            <a:off x="5047488" y="4242816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22" name="PS26172 222"/>
          <p:cNvSpPr/>
          <p:nvPr/>
        </p:nvSpPr>
        <p:spPr>
          <a:xfrm>
            <a:off x="5230368" y="3822192"/>
            <a:ext cx="11292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1F497D"/>
                </a:solidFill>
                <a:latin typeface="Arial"/>
                <a:cs typeface="Arial"/>
              </a:rPr>
              <a:t>Device-identical streams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same front end, bit-exact twin</a:t>
            </a:r>
          </a:p>
        </p:txBody>
      </p:sp>
      <p:sp>
        <p:nvSpPr>
          <p:cNvPr id="223" name="PS26172 223"/>
          <p:cNvSpPr/>
          <p:nvPr/>
        </p:nvSpPr>
        <p:spPr>
          <a:xfrm>
            <a:off x="6391656" y="4242816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24" name="PS26172 224"/>
          <p:cNvSpPr/>
          <p:nvPr/>
        </p:nvSpPr>
        <p:spPr>
          <a:xfrm>
            <a:off x="6574536" y="3822192"/>
            <a:ext cx="11292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1F497D"/>
                </a:solidFill>
                <a:latin typeface="Arial"/>
                <a:cs typeface="Arial"/>
              </a:rPr>
              <a:t>Train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DS-CNN from random init</a:t>
            </a:r>
          </a:p>
        </p:txBody>
      </p:sp>
      <p:sp>
        <p:nvSpPr>
          <p:cNvPr id="225" name="PS26172 225"/>
          <p:cNvSpPr/>
          <p:nvPr/>
        </p:nvSpPr>
        <p:spPr>
          <a:xfrm>
            <a:off x="7735824" y="4242816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26" name="PS26172 226"/>
          <p:cNvSpPr/>
          <p:nvPr/>
        </p:nvSpPr>
        <p:spPr>
          <a:xfrm>
            <a:off x="7918704" y="3822192"/>
            <a:ext cx="11292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1F497D"/>
                </a:solidFill>
                <a:latin typeface="Arial"/>
                <a:cs typeface="Arial"/>
              </a:rPr>
              <a:t>int8 export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28 KB, 5 ops</a:t>
            </a:r>
          </a:p>
        </p:txBody>
      </p:sp>
      <p:sp>
        <p:nvSpPr>
          <p:cNvPr id="227" name="PS26172 227"/>
          <p:cNvSpPr/>
          <p:nvPr/>
        </p:nvSpPr>
        <p:spPr>
          <a:xfrm>
            <a:off x="9079992" y="4242816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28" name="PS26172 228"/>
          <p:cNvSpPr/>
          <p:nvPr/>
        </p:nvSpPr>
        <p:spPr>
          <a:xfrm>
            <a:off x="9262872" y="3822192"/>
            <a:ext cx="11292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1F497D"/>
                </a:solidFill>
                <a:latin typeface="Arial"/>
                <a:cs typeface="Arial"/>
              </a:rPr>
              <a:t>Select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rule declared before the test</a:t>
            </a:r>
          </a:p>
        </p:txBody>
      </p:sp>
      <p:sp>
        <p:nvSpPr>
          <p:cNvPr id="229" name="PS26172 229"/>
          <p:cNvSpPr/>
          <p:nvPr/>
        </p:nvSpPr>
        <p:spPr>
          <a:xfrm>
            <a:off x="10424160" y="4242816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endParaRPr lang="en-US" sz="1000"/>
          </a:p>
        </p:txBody>
      </p:sp>
      <p:sp>
        <p:nvSpPr>
          <p:cNvPr id="230" name="PS26172 230"/>
          <p:cNvSpPr/>
          <p:nvPr/>
        </p:nvSpPr>
        <p:spPr>
          <a:xfrm>
            <a:off x="10607040" y="3822192"/>
            <a:ext cx="11292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1F497D"/>
                </a:solidFill>
                <a:latin typeface="Arial"/>
                <a:cs typeface="Arial"/>
              </a:rPr>
              <a:t>Flash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1A1A1A"/>
                </a:solidFill>
                <a:latin typeface="Arial"/>
                <a:cs typeface="Arial"/>
              </a:rPr>
              <a:t>operating point ships with the model</a:t>
            </a:r>
          </a:p>
        </p:txBody>
      </p:sp>
      <p:sp>
        <p:nvSpPr>
          <p:cNvPr id="231" name="PS26172 231"/>
          <p:cNvSpPr/>
          <p:nvPr/>
        </p:nvSpPr>
        <p:spPr>
          <a:xfrm>
            <a:off x="3886200" y="5029200"/>
            <a:ext cx="7863840" cy="1188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Working prototype: </a:t>
            </a:r>
            <a:r>
              <a:rPr lang="en-US" sz="1150" b="0" i="0" dirty="0">
                <a:solidFill>
                  <a:srgbClr val="1A1A1A"/>
                </a:solidFill>
                <a:latin typeface="Arial"/>
                <a:cs typeface="Arial"/>
              </a:rPr>
              <a:t>ESP32-S3-N16R8 + INMP441 on a breadboard (SCK→GPIO6, WS→GPIO5, SD→GPIO4). The demo video shows keyword → stream → transcript live on this board.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1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Model: </a:t>
            </a:r>
            <a:r>
              <a:rPr lang="en-US" sz="1150" b="0" i="0" dirty="0">
                <a:solidFill>
                  <a:srgbClr val="1A1A1A"/>
                </a:solidFill>
                <a:latin typeface="Arial"/>
                <a:cs typeface="Arial"/>
              </a:rPr>
              <a:t>10 665 parameters · 212 584 MACs per inference · 28 024 B int8 · tensor arena 13 404 B · ops: Conv2D, DepthwiseConv2D, FullyConnected, Reshape, Logistic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PS26172 201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600" b="1" i="0" dirty="0">
                <a:solidFill>
                  <a:srgbClr val="1F497D"/>
                </a:solidFill>
                <a:latin typeface="Arial"/>
                <a:cs typeface="Arial"/>
              </a:rPr>
              <a:t>Analysis of the feasibility of the idea — measured on the physical prototype, final firmware</a:t>
            </a:r>
          </a:p>
        </p:txBody>
      </p:sp>
      <p:sp>
        <p:nvSpPr>
          <p:cNvPr id="202" name="PS26172 202"/>
          <p:cNvSpPr txBox="1"/>
          <p:nvPr/>
        </p:nvSpPr>
        <p:spPr>
          <a:xfrm>
            <a:off x="457200" y="1572768"/>
            <a:ext cx="3639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>Efficiency</a:t>
            </a:r>
          </a:p>
        </p:txBody>
      </p:sp>
      <p:sp>
        <p:nvSpPr>
          <p:cNvPr id="203" name="PS26172 203"/>
          <p:cNvSpPr/>
          <p:nvPr/>
        </p:nvSpPr>
        <p:spPr>
          <a:xfrm>
            <a:off x="457200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245.6 KiB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peak RAM, streaming (&lt; 256 KB)</a:t>
            </a:r>
          </a:p>
        </p:txBody>
      </p:sp>
      <p:sp>
        <p:nvSpPr>
          <p:cNvPr id="204" name="PS26172 204"/>
          <p:cNvSpPr/>
          <p:nvPr/>
        </p:nvSpPr>
        <p:spPr>
          <a:xfrm>
            <a:off x="1700784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4.7 %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idle CPU, 2 cores (max core 8.8 %)</a:t>
            </a:r>
          </a:p>
        </p:txBody>
      </p:sp>
      <p:sp>
        <p:nvSpPr>
          <p:cNvPr id="205" name="PS26172 205"/>
          <p:cNvSpPr/>
          <p:nvPr/>
        </p:nvSpPr>
        <p:spPr>
          <a:xfrm>
            <a:off x="2944368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28 KB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model flash · 13.4 KB arena</a:t>
            </a:r>
          </a:p>
        </p:txBody>
      </p:sp>
      <p:sp>
        <p:nvSpPr>
          <p:cNvPr id="206" name="PS26172 206"/>
          <p:cNvSpPr txBox="1"/>
          <p:nvPr/>
        </p:nvSpPr>
        <p:spPr>
          <a:xfrm>
            <a:off x="4261104" y="1572768"/>
            <a:ext cx="3639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>Accuracy (model v4)</a:t>
            </a:r>
          </a:p>
        </p:txBody>
      </p:sp>
      <p:sp>
        <p:nvSpPr>
          <p:cNvPr id="207" name="PS26172 207"/>
          <p:cNvSpPr/>
          <p:nvPr/>
        </p:nvSpPr>
        <p:spPr>
          <a:xfrm>
            <a:off x="4261104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21 / 25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held-out keyword prompts, 0.5–2 m</a:t>
            </a:r>
          </a:p>
        </p:txBody>
      </p:sp>
      <p:sp>
        <p:nvSpPr>
          <p:cNvPr id="208" name="PS26172 208"/>
          <p:cNvSpPr/>
          <p:nvPr/>
        </p:nvSpPr>
        <p:spPr>
          <a:xfrm>
            <a:off x="5504688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10 / 10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fresh keyword + command prompts</a:t>
            </a:r>
          </a:p>
        </p:txBody>
      </p:sp>
      <p:sp>
        <p:nvSpPr>
          <p:cNvPr id="209" name="PS26172 209"/>
          <p:cNvSpPr/>
          <p:nvPr/>
        </p:nvSpPr>
        <p:spPr>
          <a:xfrm>
            <a:off x="6748272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0 in 5 h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false triggers, quiet night (held-out)</a:t>
            </a:r>
          </a:p>
        </p:txBody>
      </p:sp>
      <p:sp>
        <p:nvSpPr>
          <p:cNvPr id="210" name="PS26172 210"/>
          <p:cNvSpPr txBox="1"/>
          <p:nvPr/>
        </p:nvSpPr>
        <p:spPr>
          <a:xfrm>
            <a:off x="8065008" y="1572768"/>
            <a:ext cx="3639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>Latency</a:t>
            </a:r>
          </a:p>
        </p:txBody>
      </p:sp>
      <p:sp>
        <p:nvSpPr>
          <p:cNvPr id="211" name="PS26172 211"/>
          <p:cNvSpPr/>
          <p:nvPr/>
        </p:nvSpPr>
        <p:spPr>
          <a:xfrm>
            <a:off x="8065008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1.7 ms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detection → first packet at server</a:t>
            </a:r>
          </a:p>
        </p:txBody>
      </p:sp>
      <p:sp>
        <p:nvSpPr>
          <p:cNvPr id="212" name="PS26172 212"/>
          <p:cNvSpPr/>
          <p:nvPr/>
        </p:nvSpPr>
        <p:spPr>
          <a:xfrm>
            <a:off x="9308592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≈ 95 ms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keyword end → server (median)</a:t>
            </a:r>
          </a:p>
        </p:txBody>
      </p:sp>
      <p:sp>
        <p:nvSpPr>
          <p:cNvPr id="213" name="PS26172 213"/>
          <p:cNvSpPr/>
          <p:nvPr/>
        </p:nvSpPr>
        <p:spPr>
          <a:xfrm>
            <a:off x="10552176" y="1874520"/>
            <a:ext cx="11521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1700" b="1" i="0" dirty="0">
                <a:solidFill>
                  <a:srgbClr val="1F497D"/>
                </a:solidFill>
                <a:latin typeface="Arial"/>
                <a:cs typeface="Arial"/>
              </a:rPr>
              <a:t>136 ms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595959"/>
                </a:solidFill>
                <a:latin typeface="Arial"/>
                <a:cs typeface="Arial"/>
              </a:rPr>
              <a:t>keyword end → server (p95)</a:t>
            </a:r>
          </a:p>
        </p:txBody>
      </p:sp>
      <p:sp>
        <p:nvSpPr>
          <p:cNvPr id="214" name="PS26172 214"/>
          <p:cNvSpPr/>
          <p:nvPr/>
        </p:nvSpPr>
        <p:spPr>
          <a:xfrm>
            <a:off x="457200" y="3218688"/>
            <a:ext cx="4206240" cy="36576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300" b="1" i="0" dirty="0">
                <a:solidFill>
                  <a:srgbClr val="1F497D"/>
                </a:solidFill>
                <a:latin typeface="Arial"/>
                <a:cs typeface="Arial"/>
              </a:rPr>
              <a:t>Potential challenges and risks</a:t>
            </a:r>
          </a:p>
        </p:txBody>
      </p:sp>
      <p:sp>
        <p:nvSpPr>
          <p:cNvPr id="215" name="PS26172 215"/>
          <p:cNvSpPr/>
          <p:nvPr/>
        </p:nvSpPr>
        <p:spPr>
          <a:xfrm>
            <a:off x="4736592" y="3218688"/>
            <a:ext cx="6995160" cy="365760"/>
          </a:xfrm>
          <a:prstGeom prst="rect">
            <a:avLst/>
          </a:prstGeom>
          <a:solidFill>
            <a:srgbClr val="EAF5EA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300" b="1" i="0" dirty="0">
                <a:solidFill>
                  <a:srgbClr val="1F497D"/>
                </a:solidFill>
                <a:latin typeface="Arial"/>
                <a:cs typeface="Arial"/>
              </a:rPr>
              <a:t>Strategies for overcoming these challenges</a:t>
            </a:r>
          </a:p>
        </p:txBody>
      </p:sp>
      <p:sp>
        <p:nvSpPr>
          <p:cNvPr id="216" name="PS26172 216"/>
          <p:cNvSpPr/>
          <p:nvPr/>
        </p:nvSpPr>
        <p:spPr>
          <a:xfrm>
            <a:off x="457200" y="363931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TV / family speech still triggers: 10.4 per hour (held-out household audio)</a:t>
            </a:r>
          </a:p>
        </p:txBody>
      </p:sp>
      <p:sp>
        <p:nvSpPr>
          <p:cNvPr id="217" name="PS26172 217"/>
          <p:cNvSpPr/>
          <p:nvPr/>
        </p:nvSpPr>
        <p:spPr>
          <a:xfrm>
            <a:off x="4736592" y="3639312"/>
            <a:ext cx="6995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Hard negatives mined from the device’s own false triggers already cut 15.1 → 10.4 /h; next: more household hours, server-side second check that drops streams with no command</a:t>
            </a:r>
          </a:p>
        </p:txBody>
      </p:sp>
      <p:sp>
        <p:nvSpPr>
          <p:cNvPr id="218" name="PS26172 218"/>
          <p:cNvSpPr/>
          <p:nvPr/>
        </p:nvSpPr>
        <p:spPr>
          <a:xfrm>
            <a:off x="457200" y="4242816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Real-voice testing so far: one main speaker (plus TTS voices in 4 accents)</a:t>
            </a:r>
          </a:p>
        </p:txBody>
      </p:sp>
      <p:sp>
        <p:nvSpPr>
          <p:cNvPr id="219" name="PS26172 219"/>
          <p:cNvSpPr/>
          <p:nvPr/>
        </p:nvSpPr>
        <p:spPr>
          <a:xfrm>
            <a:off x="4736592" y="4242816"/>
            <a:ext cx="6995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Scripted 3-minute sessions for new speakers; per-speaker results reported separately</a:t>
            </a:r>
          </a:p>
        </p:txBody>
      </p:sp>
      <p:sp>
        <p:nvSpPr>
          <p:cNvPr id="220" name="PS26172 220"/>
          <p:cNvSpPr/>
          <p:nvPr/>
        </p:nvSpPr>
        <p:spPr>
          <a:xfrm>
            <a:off x="457200" y="484632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Server ASR word accuracy is set by the ASR model (Vosk en-in: 36 % WER published)</a:t>
            </a:r>
          </a:p>
        </p:txBody>
      </p:sp>
      <p:sp>
        <p:nvSpPr>
          <p:cNvPr id="221" name="PS26172 221"/>
          <p:cNvSpPr/>
          <p:nvPr/>
        </p:nvSpPr>
        <p:spPr>
          <a:xfrm>
            <a:off x="4736592" y="4846320"/>
            <a:ext cx="6995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Edge is ASR-agnostic: swap in a larger model or a command grammar on the server only</a:t>
            </a:r>
          </a:p>
        </p:txBody>
      </p:sp>
      <p:sp>
        <p:nvSpPr>
          <p:cNvPr id="222" name="PS26172 222"/>
          <p:cNvSpPr/>
          <p:nvPr/>
        </p:nvSpPr>
        <p:spPr>
          <a:xfrm>
            <a:off x="457200" y="544982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Thin RAM margin; Wi-Fi or server outages</a:t>
            </a:r>
          </a:p>
        </p:txBody>
      </p:sp>
      <p:sp>
        <p:nvSpPr>
          <p:cNvPr id="223" name="PS26172 223"/>
          <p:cNvSpPr/>
          <p:nvPr/>
        </p:nvSpPr>
        <p:spPr>
          <a:xfrm>
            <a:off x="4736592" y="5449824"/>
            <a:ext cx="6995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/>
                <a:cs typeface="Arial"/>
              </a:rPr>
              <a:t>Memory trims saved 9.6 KB; detection keeps running offline; auto-reconnect; ASR off the server’s receive path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PS26172 201"/>
          <p:cNvSpPr/>
          <p:nvPr/>
        </p:nvSpPr>
        <p:spPr>
          <a:xfrm>
            <a:off x="457200" y="1188720"/>
            <a:ext cx="4754880" cy="50292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 marL="329184" indent="-329184">
              <a:spcAft>
                <a:spcPts val="600"/>
              </a:spcAft>
              <a:buFont typeface="Wingdings" pitchFamily="2" charset="2"/>
              <a:buChar char="v"/>
            </a:pPr>
            <a:r>
              <a:rPr lang="en-US" sz="1600" b="1" i="0" dirty="0">
                <a:solidFill>
                  <a:srgbClr val="1F497D"/>
                </a:solidFill>
                <a:latin typeface="Arial"/>
                <a:cs typeface="Arial"/>
              </a:rPr>
              <a:t>Potential impact on the target audience</a:t>
            </a:r>
          </a:p>
          <a:p>
            <a:pPr algn="l" marL="146304" indent="-146304">
              <a:buFont typeface="Arial"/>
              <a:buChar char="•"/>
            </a:pPr>
            <a:r>
              <a:rPr lang="en-US" sz="13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ISRO labs &amp; control rooms: </a:t>
            </a: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hands-free voice commands where hands and eyes are busy — without streaming room audio all day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3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Smart automation: </a:t>
            </a: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a ready wake-word front end for any ESP32-class home, office or factory device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3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Assistive use: </a:t>
            </a: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voice control for elderly or motor-impaired users on low-cost hardware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3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Indian developers &amp; start-ups: </a:t>
            </a: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custom keyword with Indian-accent training data, no vendor SDK or licence fee</a:t>
            </a:r>
          </a:p>
        </p:txBody>
      </p:sp>
      <p:sp>
        <p:nvSpPr>
          <p:cNvPr id="202" name="PS26172 202"/>
          <p:cNvSpPr/>
          <p:nvPr/>
        </p:nvSpPr>
        <p:spPr>
          <a:xfrm>
            <a:off x="640080" y="4892040"/>
            <a:ext cx="21031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2000" b="1" i="0" dirty="0">
                <a:solidFill>
                  <a:srgbClr val="1F497D"/>
                </a:solidFill>
                <a:latin typeface="Arial"/>
                <a:cs typeface="Arial"/>
              </a:rPr>
              <a:t>0 bytes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50" b="0" i="0" dirty="0">
                <a:solidFill>
                  <a:srgbClr val="595959"/>
                </a:solidFill>
                <a:latin typeface="Arial"/>
                <a:cs typeface="Arial"/>
              </a:rPr>
              <a:t>of audio sent until the keyword is detected</a:t>
            </a:r>
          </a:p>
        </p:txBody>
      </p:sp>
      <p:sp>
        <p:nvSpPr>
          <p:cNvPr id="203" name="PS26172 203"/>
          <p:cNvSpPr/>
          <p:nvPr/>
        </p:nvSpPr>
        <p:spPr>
          <a:xfrm>
            <a:off x="2880360" y="4892040"/>
            <a:ext cx="21031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0E6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>
              <a:buNone/>
            </a:pPr>
            <a:r>
              <a:rPr lang="en-US" sz="2000" b="1" i="0" dirty="0">
                <a:solidFill>
                  <a:srgbClr val="E46C0A"/>
                </a:solidFill>
                <a:latin typeface="Arial"/>
                <a:cs typeface="Arial"/>
              </a:rPr>
              <a:t>32 kB/s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50" b="0" i="0" dirty="0">
                <a:solidFill>
                  <a:srgbClr val="595959"/>
                </a:solidFill>
                <a:latin typeface="Arial"/>
                <a:cs typeface="Arial"/>
              </a:rPr>
              <a:t>16 kHz audio, only from keyword to end of command</a:t>
            </a:r>
          </a:p>
        </p:txBody>
      </p:sp>
      <p:sp>
        <p:nvSpPr>
          <p:cNvPr id="204" name="PS26172 204"/>
          <p:cNvSpPr txBox="1"/>
          <p:nvPr/>
        </p:nvSpPr>
        <p:spPr>
          <a:xfrm>
            <a:off x="5440680" y="11887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400" b="1" i="0" dirty="0">
                <a:solidFill>
                  <a:srgbClr val="1F497D"/>
                </a:solidFill>
                <a:latin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205" name="PS26172 205"/>
          <p:cNvSpPr/>
          <p:nvPr/>
        </p:nvSpPr>
        <p:spPr>
          <a:xfrm>
            <a:off x="5440680" y="1664208"/>
            <a:ext cx="3081528" cy="21488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600" b="1" i="0" dirty="0">
                <a:solidFill>
                  <a:srgbClr val="1F497D"/>
                </a:solidFill>
                <a:latin typeface="Arial"/>
                <a:cs typeface="Arial"/>
              </a:rPr>
              <a:t>Social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Privacy by design: the room is only heard by the chip until someone says “Hey Vayro”</a:t>
            </a:r>
          </a:p>
        </p:txBody>
      </p:sp>
      <p:sp>
        <p:nvSpPr>
          <p:cNvPr id="206" name="PS26172 206"/>
          <p:cNvSpPr/>
          <p:nvPr/>
        </p:nvSpPr>
        <p:spPr>
          <a:xfrm>
            <a:off x="8668512" y="1664208"/>
            <a:ext cx="3081528" cy="214884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600" b="1" i="0" dirty="0">
                <a:solidFill>
                  <a:srgbClr val="E46C0A"/>
                </a:solidFill>
                <a:latin typeface="Arial"/>
                <a:cs typeface="Arial"/>
              </a:rPr>
              <a:t>Economic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Hardware ≈ ₹1 000 (estimate); open-source stack; no cloud cost while listening</a:t>
            </a:r>
          </a:p>
        </p:txBody>
      </p:sp>
      <p:sp>
        <p:nvSpPr>
          <p:cNvPr id="207" name="PS26172 207"/>
          <p:cNvSpPr/>
          <p:nvPr/>
        </p:nvSpPr>
        <p:spPr>
          <a:xfrm>
            <a:off x="5440680" y="3959352"/>
            <a:ext cx="3081528" cy="21488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600" b="1" i="0" dirty="0">
                <a:solidFill>
                  <a:srgbClr val="2E7D32"/>
                </a:solidFill>
                <a:latin typeface="Arial"/>
                <a:cs typeface="Arial"/>
              </a:rPr>
              <a:t>Environmental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Low compute (4.7 % CPU idle); audio is sent only after the keyword, so traffic stays tiny. Wi-Fi is kept awake for latency; power not yet measured</a:t>
            </a:r>
          </a:p>
        </p:txBody>
      </p:sp>
      <p:sp>
        <p:nvSpPr>
          <p:cNvPr id="208" name="PS26172 208"/>
          <p:cNvSpPr/>
          <p:nvPr/>
        </p:nvSpPr>
        <p:spPr>
          <a:xfrm>
            <a:off x="8668512" y="3959352"/>
            <a:ext cx="3081528" cy="21488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600" b="1" i="0" dirty="0">
                <a:solidFill>
                  <a:srgbClr val="1F497D"/>
                </a:solidFill>
                <a:latin typeface="Arial"/>
                <a:cs typeface="Arial"/>
              </a:rPr>
              <a:t>Technical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350" b="0" i="0" dirty="0">
                <a:solidFill>
                  <a:srgbClr val="1A1A1A"/>
                </a:solidFill>
                <a:latin typeface="Arial"/>
                <a:cs typeface="Arial"/>
              </a:rPr>
              <a:t>Reproducible: a new keyword = new recordings + the same scripts; every number traceable to an evidence log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PS26172 201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329184" indent="-329184">
              <a:buFont typeface="Wingdings" pitchFamily="2" charset="2"/>
              <a:buChar char="v"/>
            </a:pPr>
            <a:r>
              <a:rPr lang="en-US" sz="1600" b="1" i="0" dirty="0">
                <a:solidFill>
                  <a:srgbClr val="1F497D"/>
                </a:solidFill>
                <a:latin typeface="Arial"/>
                <a:cs typeface="Arial"/>
              </a:rPr>
              <a:t>Details / Links of the reference and research work</a:t>
            </a:r>
          </a:p>
        </p:txBody>
      </p:sp>
      <p:sp>
        <p:nvSpPr>
          <p:cNvPr id="202" name="PS26172 202"/>
          <p:cNvSpPr/>
          <p:nvPr/>
        </p:nvSpPr>
        <p:spPr>
          <a:xfrm>
            <a:off x="457200" y="1645920"/>
            <a:ext cx="7269480" cy="4572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[1]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Y. Zhang, N. Suda, L. Lai, V. Chandra,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“Hello Edge: Keyword Spotting on Microcontrollers”, arXiv:1711.07128, 2017 — DS-CNN architecture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[2]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P. Warden,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“Speech Commands: A Dataset for Limited-Vocabulary Speech Recognition”, arXiv:1804.03209, 2018 — KWS background (not used for training)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[3]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TensorFlow Lite Micro + microfrontend: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github.com/tensorflow/tflite-micro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[4]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Espressif esp-tflite-micro and ESP-NN: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github.com/espressif/esp-tflite-micro · github.com/espressif/esp-nn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[5]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ESP-IDF v5.5 (FreeRTOS, drivers, lwIP):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github.com/espressif/esp-idf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[6]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V. Panayotov et al.,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“LibriSpeech: an ASR corpus based on public domain audio books”, ICASSP 2015 — openslr.org/12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[7]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Piper TTS and voices: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github.com/OHF-Voice/piper1-gpl · huggingface.co/rhasspy/piper-voices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[8]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D. Povey et al.,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“The Kaldi Speech Recognition Toolkit”, ASRU 2011 · Vosk: alphacephei.com/vosk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/>
                <a:cs typeface="Arial"/>
              </a:rPr>
              <a:t xml:space="preserve">[9]  </a:t>
            </a: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Datasheets: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ESP32-S3 Technical Reference Manual (Espressif); INMP441 (TDK InvenSense)</a:t>
            </a:r>
          </a:p>
        </p:txBody>
      </p:sp>
      <p:sp>
        <p:nvSpPr>
          <p:cNvPr id="203" name="PS26172 203"/>
          <p:cNvSpPr/>
          <p:nvPr/>
        </p:nvSpPr>
        <p:spPr>
          <a:xfrm>
            <a:off x="7882128" y="1645920"/>
            <a:ext cx="3849624" cy="457200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1F497D"/>
                </a:solidFill>
                <a:latin typeface="Arial"/>
                <a:cs typeface="Arial"/>
              </a:rPr>
              <a:t>Our own research record</a:t>
            </a:r>
          </a:p>
          <a:p>
            <a:pPr algn="l" marL="146304" indent="-146304">
              <a:buFont typeface="Arial"/>
              <a:buChar char="•"/>
            </a:pP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Evidence ledger: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58 entries, each tagged measured / estimated / proposed, with its raw data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Selection rules: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written and committed before each held-out test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SBOM: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every component and licence listed; the one closed Wi-Fi radio blob and the non-commercial TTS voices are disclosed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Licence: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our code Apache-2.0; every component’s licence listed in the SBOM</a:t>
            </a:r>
          </a:p>
          <a:p>
            <a:pPr algn="l" marL="146304" indent="-146304">
              <a:spcBef>
                <a:spcPts val="900"/>
              </a:spcBef>
              <a:buFont typeface="Arial"/>
              <a:buChar char="•"/>
            </a:pPr>
            <a:r>
              <a:rPr lang="en-US" sz="12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Demo video: </a:t>
            </a:r>
            <a:r>
              <a:rPr lang="en-US" sz="1250" b="0" i="0" dirty="0">
                <a:solidFill>
                  <a:srgbClr val="1A1A1A"/>
                </a:solidFill>
                <a:latin typeface="Arial"/>
                <a:cs typeface="Arial"/>
              </a:rPr>
              <a:t>link to be added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